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aed6c9-9791-cdae-84ef-5d32e8364e19}">
          <p14:sldIdLst>
            <p14:sldId id="256"/>
            <p14:sldId id="257"/>
          </p14:sldIdLst>
        </p14:section>
        <p14:section name="Describing the data" id="{3c5e506d-a146-090b-0748-d465be9d3800}">
          <p14:sldIdLst>
            <p14:sldId id="258"/>
            <p14:sldId id="259"/>
          </p14:sldIdLst>
        </p14:section>
        <p14:section name="Probability" id="{d45902fe-7627-f936-1a91-fb917740df8d}">
          <p14:sldIdLst>
            <p14:sldId id="260"/>
            <p14:sldId id="261"/>
          </p14:sldIdLst>
        </p14:section>
        <p14:section name="Hypothesis tests" id="{cac9c817-70dd-33ab-9b09-865c039f29d7}">
          <p14:sldIdLst>
            <p14:sldId id="262"/>
            <p14:sldId id="263"/>
          </p14:sldIdLst>
        </p14:section>
        <p14:section name="The filter" id="{705dfc73-c329-7460-470c-7ff5e103ee99}">
          <p14:sldIdLst>
            <p14:sldId id="264"/>
            <p14:sldId id="265"/>
            <p14:sldId id="266"/>
          </p14:sldIdLst>
        </p14:section>
        <p14:section name="Close" id="{e707f1fb-5151-b893-1baa-c433404c343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cards fly in, line up and form a circle. Wait for the circle.] Raise your hand if you got a spam message this week. … Most of you. Today I want to show you that the thing protecting you from those messages is not magic, and not even really “AI” — it's probability and statistics that we all study in this course. [Press ↓. The circle opens into an arc and the title appears.] So the question for today is: how does your phone know it's spam? Every card you see here is a real plot we made in R from the data we'll use. (Hover one card so it flips.) Each card flips to show what it is. [Press ↓ twice more: the cards slide along the arc, then the deck moves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dataset, 13.4 % of all text messages are spam. Suppose you get 30 texts a day, and each one is spam with probability p = 0.134, independently of the others. Then the number of spam texts you receive in a day, X, follows a binomial distribution with n = 30 and p = 0.134. [Point at the formula.] The probability of exactly k spam messages is n choose k, times p to the k, times (1 − p) to the n − k. The bar chart is that formula. The most likely outcome is 3 or 4 spam messages a day. [Point at the big pink number.] What's the chance you get at least one spam today? Instead of adding up k = 1, 2, 3 … all the way to 30, we use the complement: 1 minus the probability of zero spam, which is 1 − (1 − p)ⁿ. That's 98.7 %. You are almost guaranteed to be targeted every single day. [Drag the n slider down to 5, then back to 30.] Even with only 5 texts a day it's still over 50 %. The expected number is n·p = 4.02, with a standard deviation of √(np(1 − p)) = 1.87. [Click ▶ Simulate a day two or three times.] Now let's simulate a day. Each bubble is a real message from the dataset; pink ones are spam. Each click is one day. Watch the average across days settle near 4 — that's the law of large numbers: the simulated average converges to the expected value np.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data: the UCI SMS Spam Collection, a public research dataset. 5,574 texts, each labelled by a human as spam or ham — ham just means a normal message. 747 spam and 4,827 ham, with 7,211 different words. [Click the red “SMSSpamCollection” folder to open it, then click “spam examples”.] Here are some real spam messages. You'll notice the patterns straight away: “FREE”, “WIN”, “call now”, long phone numbers, money signs. (Close with Esc.) [Click the “+” on the analysis.R folder, then open one of the code sheets.] Every number in this talk comes from one R script. This folder holds its sections. R reads the whole dataset with a single `read.delim()` call. [Open the “R plots” folder and click a plot.] And these are the plots R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 model, a statistician first describes the data. The simplest thing to measure is message length. [Point at the histogram (cyan = ham, pink = spam).] Normal messages are short: median 52 characters. Spam is long: median 149. Look at the shapes. Ham is right-skewed: lots of tiny “ok”, “on my way” texts and a long tail. Spam piles up just under 160 characters, which is exactly the length of one SMS. Spammers fill every character they pay for. [Point at the stat tiles.] Notice ham's mean (71.5) is bigger than its median (52). That's the skew pulling the mean up, so the median is the better summary for ham. Spam's spread is also much smaller: SD 28.9 vs 58.3. [Point at the t-test box.] Is the difference real, or could it be chance? Null hypothesis: both groups have the same mean length. We use Welch's t-test because the two variances are clearly different. t = −49.8, and the p-value is smaller than R can even print: &lt; 2.2 × 10⁻¹⁶. The 95 % confidence interval says spam is between 65 and 70 characters longer. We reject H₀. Since the data are skewed, I also checked with the non-parametric Wilcoxon test, and it agrees. So length alone is a clue. Remember that, because later it's the baseline our real filter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idea of the whole talk. Counting gives us P(word | spam): 22.8 % of spam messages contain the word “free”. But that's the wrong way round! When a message arrives, we know the word and want the class. We want P(spam | “free”). Bayes' theorem flips the condition: P(spam | free) = P(free | spam) × P(spam) / P(free) = 0.228 × 0.134 / 0.041 ≈ 74 %. [Click the chips: “prize”, then “call”, then “you”, then “ok”.] “prize” never appears in a normal message in this dataset, so P(spam | prize) = 100 %. “call” is only 60 %: real people say “call me” too. “you” is just 15 %, which is close to the prior, so it's useless as evidence. And “ok” drops it to 2 %. The green line is the prior, 13.4 %. Words to the right of it push towards spam, words to the left push towards ham. [Move to the right panel and click the “medical test” preset.] Now the most important lesson in probability. Imagine a disease that 1 in 100 people have, and a test that is 99 % sensitive with a 5 % false-positive rate. You test positive. What's the chance you're sick? Most people say 99 %. (Pause.) It's about 17 %. [Point at the dots.] Look at 1,000 people. 10 are sick and the test catches them: the pink dots. But 990 are healthy, and 5 % of them, about 50, also get a positive: the orange dots. So out of 60 positives, only 10 are really sick. This is the base-rate fallacy: when something is rare, most alarms are false. [Click “rare scam”, then drag the prior slider up slowly.] As the bad thing gets more common, the posterior climbs. That's exactly why a spam filter never trusts one clue. It combines every word in the message,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 slowly (or press ↓ once per card). R rendered every frame of this animation.] Card 1 · Prior. Two real messages the model has never seen are read one word at a time. Pink is spam, cyan is ham. Before reading anything, the filter only knows the base rate, so both lines start at 13.6 %. Card 2 · Likelihood. Every word is evidence. It multiplies the odds by its likelihood ratio: P(word | spam) divided by P(word | ham). Watch the pink message. “you have an” actually pushes it down to 3.5 %, because normal people say those words too. Then “customer” jumps it to 50 %, “service” to 95 %, and “announcement” to 99.5 %. Meanwhile the ham message “fine if that's the way u feel” drops to almost zero after just three words. Card 3 · Posterior. Multiplying hundreds of small probabilities makes numbers too tiny for a computer, so we take logarithms and add instead. Log posterior odds = log prior odds + the sum of the words' log likelihood ratios. That single sum (the formula at the bottom right) is the Naive Bayes classifier. “Naive” because it assumes the words are independent given the class. That's not really true, but it works remarkably well. Card 4 · Verdict. Final answer: the spam ends at essentially 100 %, the ham at essentially 0 %. And notice the phone number: “0800” alone added a huge amount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count something: exclamation marks per message. Counts of rare events that happen at a steady rate follow a Poisson distribution, with one parameter λ, the average rate. The maximum-likelihood estimate of λ is just the sample mean: 0.73 “!” per spam message. [Point at bars (data) and the green line (Poisson model).] The bars are the real data, the green dots are what Poisson(0.73) predicts. They match well. A χ² goodness-of-fit test gives p = 0.059, which is above 0.05, so we cannot reject the Poisson model. [Drag the λ slider away from the MLE, to about 1.5, and watch χ² explode. Then drag it back to 0.73.] If I pick the wrong λ, the fit gets terrible. The MLE is the value that fits best. [Click the “ham” chip.] Now normal messages. λ is only 0.18, so spam uses about 4× more exclamation marks. But here the Poisson model fails badly: p ≈ 10⁻⁸². Why? For a Poisson distribution, the variance equals the mean. For ham the variance is about twice the mean; we call that overdispersion. Most people never type “!”, and a few people type “!!!!!”. Humans are bursty. Spammers use a template, so they're regular. The variance-to-mean ratio is a quick fingerprint of who wrote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sorted every message by its strongest clue: does it contain a phone number (5+ digits), a £ or $ sign, a web link, or none of those? [Point at the table.] Look at the first row. Of 588 messages with a phone number, 585 are spam. Our null hypothesis is that the clue and the label are independent. [Click “expected E under H₀”.] If they were independent, we'd expect only about 79 spam messages in that row, using E = row total × column total / N. We observed 585. The χ² statistic adds up (O − E)² / E over every cell. [Click “⤨ shuffle once” two or three times, then “⤨ ×250”.] Here's the intuition behind a hypothesis test. If H₀ were true, the labels wouldn't matter, so I can shuffle the spam labels randomly across all 5,574 messages and recompute χ². Each shuffle is one “world where H₀ is true”. Let's do 250 of them. The purple histogram is the null distribution: chance alone gives values around 3, rarely above 18. [Point at the pink line on the right.] Our real value is 4,485. The axis even has to break to fit it. With 3 degrees of freedom the 5 % critical value is 7.81. The p-value is effectively zero, so we reject independence. Cramér's V = 0.90, on a 0-to-1 scale, says the association is very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Spammers know filters look for “free”, so they write “fr33”. To a computer that's a completely new word with no evidence. The fix is to measure how close two words are. The Levenshtein distance is the fewest single-letter insertions, deletions or substitutions that turn one word into another. [Point at the grid.] We compute it with dynamic programming: each cell is the minimum of three neighbours plus one, and the green path is the cheapest sequence of edits. “fr33” → “free” takes 2 substitutions. [Click the chips: “w1nner”, “pr1ze”, “c4sh”. Then type your own, e.g. “m0bile”.] Within 2 edits of a known spam word, we treat it as that word, and it gets its evidence back. In R this is a single built-in function: `adist()`.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model R trained on 3,902 messages: 7,211 words, each with its own likelihood ratio. Let's try it. [Click “example 1” (prize spam), then “example 2” (lunch), then “example 5” (bank PIN scam).] Every chip is a word with its log likelihood ratio: pink pushes towards spam, cyan towards ham, grey means the model has never seen that word, so it carries no evidence. The needle is P(spam | your words). The table underneath shows the actual sum: prior log-odds plus each word's contribution. [Turn to the audience.] Now you. Shout out a message, a spam one or a normal one, and let's see if you can fool it. [Type what they say. Good things to try if nobody speaks:] When it gets one wrong: “Good, so the model isn't perfect, and the next slide measures exactly how imperfect.” [If the dot under the verdict says “computed live by R 4.6.1 (plumber API)”, point it out:] “And this answer was just computed by R running on a server, not by the web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on 1,672 messages the model never saw while learning. At threshold 0.5 it gets 98.3 % right: 193 spam caught, 1,450 real messages kept, 24 spam missed and only 5 real messages wrongly sent to spam. [Point at the ROC curve.] The ROC curve shows every possible threshold at once: true-positive rate against false-positive rate. The area under it, AUC, is 0.98 for Naive Bayes, against 0.87 for message length alone, the baseline from slide 4. [Drag the threshold slider down to 0.05, then up to 0.95, and watch the four boxes.] Lower threshold: we catch more spam, but we also lose real messages. Higher: the opposite. Which is better? Accuracy can't answer that, because the two mistakes aren't equal. Losing a message from your boss is far worse than seeing one spam. [Point at the cost sliders. Default is: losing a real message costs 10, one spam costs 1. Click “use best t”.] We define an expected cost, 10 × false positives + 1 × false negatives, and choose the threshold that minimises it. The best threshold moves up to about 0.96: only act when you're very sure. (Drag “cost of one spam” to 10 as well.) If both mistakes cost the same, it drops back toward 0.5. Every email provider makes exactly this decision. It's not maths alone; it's maths plus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across the 10 tiles.] So in one spam filter we used: the binomial distribution, descriptive statistics, a t-test, Bayes' theorem and the base-rate fallacy, the Poisson distribution with a goodness-of-fit test, a χ² test of independence, edit distance, Naive Bayes, and expected-cost decision making. All on real data, all in R. [Point at the “Spam filters for code” card.] One last thing. The same maths works far beyond SMS. In a project from our team, PhishGuard.js, we use these exact ideas to protect software: Bayes to find which code library triggered an alarm, edit distance to catch fake packages like “loadsh” pretending to be “lodash”, and a Poisson test to spot malware that phones home on a timer. Once you know the maths, you see it everywhere.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707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8813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977640"/>
            <a:ext cx="960120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707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200" b="1" spc="3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 plot card 1" descr="R plot thumbnail">    </p:cNvPr>
          <p:cNvPicPr>
            <a:picLocks noChangeAspect="1"/>
          </p:cNvPicPr>
          <p:nvPr/>
        </p:nvPicPr>
        <p:blipFill>
          <a:blip r:embed="rId1"/>
          <a:stretch>
            <a:fillRect/>
          </a:stretch>
        </p:blipFill>
        <p:spPr>
          <a:xfrm>
            <a:off x="640080" y="502920"/>
            <a:ext cx="960120" cy="1362456"/>
          </a:xfrm>
          <a:prstGeom prst="rect">
            <a:avLst/>
          </a:prstGeom>
        </p:spPr>
      </p:pic>
      <p:pic>
        <p:nvPicPr>
          <p:cNvPr id="3" name="R plot card 2" descr="R plot thumbnail">    </p:cNvPr>
          <p:cNvPicPr>
            <a:picLocks noChangeAspect="1"/>
          </p:cNvPicPr>
          <p:nvPr/>
        </p:nvPicPr>
        <p:blipFill>
          <a:blip r:embed="rId2"/>
          <a:stretch>
            <a:fillRect/>
          </a:stretch>
        </p:blipFill>
        <p:spPr>
          <a:xfrm>
            <a:off x="1737360" y="502920"/>
            <a:ext cx="960120" cy="1362456"/>
          </a:xfrm>
          <a:prstGeom prst="rect">
            <a:avLst/>
          </a:prstGeom>
        </p:spPr>
      </p:pic>
      <p:pic>
        <p:nvPicPr>
          <p:cNvPr id="4" name="R plot card 3" descr="R plot thumbnail">    </p:cNvPr>
          <p:cNvPicPr>
            <a:picLocks noChangeAspect="1"/>
          </p:cNvPicPr>
          <p:nvPr/>
        </p:nvPicPr>
        <p:blipFill>
          <a:blip r:embed="rId3"/>
          <a:stretch>
            <a:fillRect/>
          </a:stretch>
        </p:blipFill>
        <p:spPr>
          <a:xfrm>
            <a:off x="2834640" y="502920"/>
            <a:ext cx="960120" cy="1362456"/>
          </a:xfrm>
          <a:prstGeom prst="rect">
            <a:avLst/>
          </a:prstGeom>
        </p:spPr>
      </p:pic>
      <p:pic>
        <p:nvPicPr>
          <p:cNvPr id="5" name="R plot card 4" descr="R plot thumbnail">    </p:cNvPr>
          <p:cNvPicPr>
            <a:picLocks noChangeAspect="1"/>
          </p:cNvPicPr>
          <p:nvPr/>
        </p:nvPicPr>
        <p:blipFill>
          <a:blip r:embed="rId4"/>
          <a:stretch>
            <a:fillRect/>
          </a:stretch>
        </p:blipFill>
        <p:spPr>
          <a:xfrm>
            <a:off x="3931920" y="502920"/>
            <a:ext cx="960120" cy="1362456"/>
          </a:xfrm>
          <a:prstGeom prst="rect">
            <a:avLst/>
          </a:prstGeom>
        </p:spPr>
      </p:pic>
      <p:pic>
        <p:nvPicPr>
          <p:cNvPr id="6" name="R plot card 5" descr="R plot thumbnail">    </p:cNvPr>
          <p:cNvPicPr>
            <a:picLocks noChangeAspect="1"/>
          </p:cNvPicPr>
          <p:nvPr/>
        </p:nvPicPr>
        <p:blipFill>
          <a:blip r:embed="rId5"/>
          <a:stretch>
            <a:fillRect/>
          </a:stretch>
        </p:blipFill>
        <p:spPr>
          <a:xfrm>
            <a:off x="5029200" y="502920"/>
            <a:ext cx="960120" cy="1362456"/>
          </a:xfrm>
          <a:prstGeom prst="rect">
            <a:avLst/>
          </a:prstGeom>
        </p:spPr>
      </p:pic>
      <p:pic>
        <p:nvPicPr>
          <p:cNvPr id="7" name="R plot card 6" descr="R plot thumbnail">    </p:cNvPr>
          <p:cNvPicPr>
            <a:picLocks noChangeAspect="1"/>
          </p:cNvPicPr>
          <p:nvPr/>
        </p:nvPicPr>
        <p:blipFill>
          <a:blip r:embed="rId6"/>
          <a:stretch>
            <a:fillRect/>
          </a:stretch>
        </p:blipFill>
        <p:spPr>
          <a:xfrm>
            <a:off x="6126480" y="502920"/>
            <a:ext cx="960120" cy="1362456"/>
          </a:xfrm>
          <a:prstGeom prst="rect">
            <a:avLst/>
          </a:prstGeom>
        </p:spPr>
      </p:pic>
      <p:pic>
        <p:nvPicPr>
          <p:cNvPr id="8" name="R plot card 7" descr="R plot thumbnail">    </p:cNvPr>
          <p:cNvPicPr>
            <a:picLocks noChangeAspect="1"/>
          </p:cNvPicPr>
          <p:nvPr/>
        </p:nvPicPr>
        <p:blipFill>
          <a:blip r:embed="rId7"/>
          <a:stretch>
            <a:fillRect/>
          </a:stretch>
        </p:blipFill>
        <p:spPr>
          <a:xfrm>
            <a:off x="7223760" y="502920"/>
            <a:ext cx="960120" cy="1362456"/>
          </a:xfrm>
          <a:prstGeom prst="rect">
            <a:avLst/>
          </a:prstGeom>
        </p:spPr>
      </p:pic>
      <p:pic>
        <p:nvPicPr>
          <p:cNvPr id="9" name="R plot card 8" descr="R plot thumbnail">    </p:cNvPr>
          <p:cNvPicPr>
            <a:picLocks noChangeAspect="1"/>
          </p:cNvPicPr>
          <p:nvPr/>
        </p:nvPicPr>
        <p:blipFill>
          <a:blip r:embed="rId8"/>
          <a:stretch>
            <a:fillRect/>
          </a:stretch>
        </p:blipFill>
        <p:spPr>
          <a:xfrm>
            <a:off x="8321040" y="502920"/>
            <a:ext cx="960120" cy="1362456"/>
          </a:xfrm>
          <a:prstGeom prst="rect">
            <a:avLst/>
          </a:prstGeom>
        </p:spPr>
      </p:pic>
      <p:pic>
        <p:nvPicPr>
          <p:cNvPr id="10" name="R plot card 9" descr="R plot thumbnail">    </p:cNvPr>
          <p:cNvPicPr>
            <a:picLocks noChangeAspect="1"/>
          </p:cNvPicPr>
          <p:nvPr/>
        </p:nvPicPr>
        <p:blipFill>
          <a:blip r:embed="rId9"/>
          <a:stretch>
            <a:fillRect/>
          </a:stretch>
        </p:blipFill>
        <p:spPr>
          <a:xfrm>
            <a:off x="9418320" y="502920"/>
            <a:ext cx="960120" cy="1362456"/>
          </a:xfrm>
          <a:prstGeom prst="rect">
            <a:avLst/>
          </a:prstGeom>
        </p:spPr>
      </p:pic>
      <p:pic>
        <p:nvPicPr>
          <p:cNvPr id="11" name="R plot card 10" descr="R plot thumbnail">    </p:cNvPr>
          <p:cNvPicPr>
            <a:picLocks noChangeAspect="1"/>
          </p:cNvPicPr>
          <p:nvPr/>
        </p:nvPicPr>
        <p:blipFill>
          <a:blip r:embed="rId10"/>
          <a:stretch>
            <a:fillRect/>
          </a:stretch>
        </p:blipFill>
        <p:spPr>
          <a:xfrm>
            <a:off x="10515600" y="502920"/>
            <a:ext cx="960120" cy="1362456"/>
          </a:xfrm>
          <a:prstGeom prst="rect">
            <a:avLst/>
          </a:prstGeom>
        </p:spPr>
      </p:pic>
      <p:sp>
        <p:nvSpPr>
          <p:cNvPr id="12" name="Text 0"/>
          <p:cNvSpPr/>
          <p:nvPr>
            <p:ph idx="100" type="title" hasCustomPrompt="1"/>
          </p:nvPr>
        </p:nvSpPr>
        <p:spPr>
          <a:xfrm>
            <a:off x="640080" y="1828800"/>
            <a:ext cx="10881360" cy="2011680"/>
          </a:xfrm>
          <a:prstGeom prst="rect">
            <a:avLst/>
          </a:prstGeom>
          <a:noFill/>
          <a:ln/>
        </p:spPr>
        <p:txBody>
          <a:bodyPr wrap="square" rtlCol="0" anchor="b"/>
          <a:lstStyle/>
          <a:p>
            <a:pPr algn="l" indent="0" marL="0">
              <a:buNone/>
            </a:pPr>
            <a:r>
              <a:rPr lang="en-US" sz="5400" b="1" dirty="0">
                <a:solidFill>
                  <a:schemeClr val="bg1"/>
                </a:solidFill>
              </a:rPr>
              <a:t>How does your phone know it's </a:t>
            </a:r>
            <a:pPr algn="l" indent="0" marL="0">
              <a:buNone/>
            </a:pPr>
            <a:r>
              <a:rPr lang="en-US" sz="5400" b="1" dirty="0">
                <a:solidFill>
                  <a:schemeClr val="accent1"/>
                </a:solidFill>
              </a:rPr>
              <a:t>spam?</a:t>
            </a:r>
            <a:endParaRPr lang="en-US" sz="5400" dirty="0"/>
          </a:p>
        </p:txBody>
      </p:sp>
      <p:sp>
        <p:nvSpPr>
          <p:cNvPr id="13" name="Text 0"/>
          <p:cNvSpPr/>
          <p:nvPr>
            <p:ph idx="101" type="body" hasCustomPrompt="1"/>
          </p:nvPr>
        </p:nvSpPr>
        <p:spPr>
          <a:xfrm>
            <a:off x="640080" y="3977640"/>
            <a:ext cx="9601200" cy="914400"/>
          </a:xfrm>
          <a:prstGeom prst="rect">
            <a:avLst/>
          </a:prstGeom>
          <a:noFill/>
          <a:ln/>
        </p:spPr>
        <p:txBody>
          <a:bodyPr wrap="square" rtlCol="0"/>
          <a:lstStyle/>
          <a:p>
            <a:pPr indent="0" marL="0">
              <a:buNone/>
            </a:pPr>
            <a:r>
              <a:rPr lang="en-US" sz="2000" dirty="0">
                <a:solidFill>
                  <a:schemeClr val="bg2"/>
                </a:solidFill>
              </a:rPr>
              <a:t>The probability and statistics behind every spam filter, worked out in R on 5,574 real text messages</a:t>
            </a:r>
            <a:endParaRPr lang="en-US" sz="2000" dirty="0"/>
          </a:p>
        </p:txBody>
      </p:sp>
      <p:sp>
        <p:nvSpPr>
          <p:cNvPr id="14" name="topics"/>
          <p:cNvSpPr txBox="1"/>
          <p:nvPr/>
        </p:nvSpPr>
        <p:spPr>
          <a:xfrm>
            <a:off x="640080" y="5074920"/>
            <a:ext cx="10881360" cy="365760"/>
          </a:xfrm>
          <a:prstGeom prst="rect">
            <a:avLst/>
          </a:prstGeom>
          <a:noFill/>
          <a:ln/>
        </p:spPr>
        <p:txBody>
          <a:bodyPr wrap="square" lIns="0" tIns="0" rIns="0" bIns="0" rtlCol="0" anchor="ctr"/>
          <a:lstStyle/>
          <a:p>
            <a:pPr indent="0" marL="0">
              <a:buNone/>
            </a:pPr>
            <a:r>
              <a:rPr lang="en-US" sz="1400" spc="200" kern="0" dirty="0">
                <a:solidFill>
                  <a:srgbClr val="C6FF3D"/>
                </a:solidFill>
              </a:rPr>
              <a:t>Binomial · Bayes · Poisson · χ² · t-test · Naive Bayes · ROC · Edit distance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02 · THE PROBLEM · BINOMIAL</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Your inbox is under siege</a:t>
            </a:r>
            <a:endParaRPr lang="en-US" sz="3600" dirty="0"/>
          </a:p>
        </p:txBody>
      </p:sp>
      <p:sp>
        <p:nvSpPr>
          <p:cNvPr id="5" name="text"/>
          <p:cNvSpPr txBox="1"/>
          <p:nvPr/>
        </p:nvSpPr>
        <p:spPr>
          <a:xfrm>
            <a:off x="548640" y="1691640"/>
            <a:ext cx="5120640" cy="91440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13.4% of text messages in our data are spam. With 30 texts a day, the number of spam texts is </a:t>
            </a:r>
            <a:pPr indent="0" marL="0">
              <a:spcAft>
                <a:spcPts val="600"/>
              </a:spcAft>
              <a:buNone/>
            </a:pPr>
            <a:r>
              <a:rPr lang="en-US" sz="1600" b="1" dirty="0">
                <a:solidFill>
                  <a:schemeClr val="accent2"/>
                </a:solidFill>
              </a:rPr>
              <a:t>X ~ Binomial(n = 30, p = 0.134)</a:t>
            </a:r>
            <a:endParaRPr lang="en-US" sz="1600" dirty="0"/>
          </a:p>
        </p:txBody>
      </p:sp>
      <p:sp>
        <p:nvSpPr>
          <p:cNvPr id="6" name="stat P(at least one spam today) = 1 − (1 − p)ⁿ"/>
          <p:cNvSpPr/>
          <p:nvPr/>
        </p:nvSpPr>
        <p:spPr>
          <a:xfrm>
            <a:off x="548640" y="2743200"/>
            <a:ext cx="5120640" cy="1234440"/>
          </a:xfrm>
          <a:prstGeom prst="roundRect">
            <a:avLst>
              <a:gd name="adj" fmla="val 8889"/>
            </a:avLst>
          </a:prstGeom>
          <a:solidFill>
            <a:srgbClr val="14131F"/>
          </a:solidFill>
          <a:ln w="9525">
            <a:solidFill>
              <a:srgbClr val="2A2840"/>
            </a:solidFill>
            <a:prstDash val="solid"/>
          </a:ln>
        </p:spPr>
      </p:sp>
      <p:sp>
        <p:nvSpPr>
          <p:cNvPr id="7" name="value P(at least one spam today) = 1 − (1 − p)ⁿ"/>
          <p:cNvSpPr txBox="1"/>
          <p:nvPr/>
        </p:nvSpPr>
        <p:spPr>
          <a:xfrm>
            <a:off x="731520" y="2852928"/>
            <a:ext cx="4754880" cy="685800"/>
          </a:xfrm>
          <a:prstGeom prst="rect">
            <a:avLst/>
          </a:prstGeom>
          <a:noFill/>
          <a:ln/>
        </p:spPr>
        <p:txBody>
          <a:bodyPr wrap="square" lIns="0" tIns="0" rIns="0" bIns="0" rtlCol="0" anchor="ctr"/>
          <a:lstStyle/>
          <a:p>
            <a:pPr indent="0" marL="0">
              <a:buNone/>
            </a:pPr>
            <a:r>
              <a:rPr lang="en-US" sz="5400" b="1" dirty="0">
                <a:solidFill>
                  <a:srgbClr val="FF2BD6"/>
                </a:solidFill>
                <a:latin typeface="Arial" pitchFamily="34" charset="0"/>
                <a:ea typeface="Arial" pitchFamily="34" charset="-122"/>
                <a:cs typeface="Arial" pitchFamily="34" charset="-120"/>
              </a:rPr>
              <a:t>98.7%</a:t>
            </a:r>
            <a:endParaRPr lang="en-US" sz="5400" dirty="0"/>
          </a:p>
        </p:txBody>
      </p:sp>
      <p:sp>
        <p:nvSpPr>
          <p:cNvPr id="8" name="label P(at least one spam today) = 1 − (1 − p)ⁿ"/>
          <p:cNvSpPr txBox="1"/>
          <p:nvPr/>
        </p:nvSpPr>
        <p:spPr>
          <a:xfrm>
            <a:off x="731520" y="3547872"/>
            <a:ext cx="4754880" cy="320040"/>
          </a:xfrm>
          <a:prstGeom prst="rect">
            <a:avLst/>
          </a:prstGeom>
          <a:noFill/>
          <a:ln/>
        </p:spPr>
        <p:txBody>
          <a:bodyPr wrap="square" lIns="0" tIns="0" rIns="0" bIns="0" rtlCol="0" anchor="ctr"/>
          <a:lstStyle/>
          <a:p>
            <a:pPr indent="0" marL="0">
              <a:buNone/>
            </a:pPr>
            <a:r>
              <a:rPr lang="en-US" sz="1200" dirty="0">
                <a:solidFill>
                  <a:srgbClr val="8A8AA3"/>
                </a:solidFill>
              </a:rPr>
              <a:t>P(at least one spam today) = 1 − (1 − p)ⁿ</a:t>
            </a:r>
            <a:endParaRPr lang="en-US" sz="1200" dirty="0"/>
          </a:p>
        </p:txBody>
      </p:sp>
      <p:sp>
        <p:nvSpPr>
          <p:cNvPr id="9" name="stat expected spam per day (np)"/>
          <p:cNvSpPr/>
          <p:nvPr/>
        </p:nvSpPr>
        <p:spPr>
          <a:xfrm>
            <a:off x="548640" y="4160520"/>
            <a:ext cx="2468880" cy="1234440"/>
          </a:xfrm>
          <a:prstGeom prst="roundRect">
            <a:avLst>
              <a:gd name="adj" fmla="val 8889"/>
            </a:avLst>
          </a:prstGeom>
          <a:solidFill>
            <a:srgbClr val="14131F"/>
          </a:solidFill>
          <a:ln w="9525">
            <a:solidFill>
              <a:srgbClr val="2A2840"/>
            </a:solidFill>
            <a:prstDash val="solid"/>
          </a:ln>
        </p:spPr>
      </p:sp>
      <p:sp>
        <p:nvSpPr>
          <p:cNvPr id="10" name="value expected spam per day (np)"/>
          <p:cNvSpPr txBox="1"/>
          <p:nvPr/>
        </p:nvSpPr>
        <p:spPr>
          <a:xfrm>
            <a:off x="731520" y="4270248"/>
            <a:ext cx="2103120" cy="685800"/>
          </a:xfrm>
          <a:prstGeom prst="rect">
            <a:avLst/>
          </a:prstGeom>
          <a:noFill/>
          <a:ln/>
        </p:spPr>
        <p:txBody>
          <a:bodyPr wrap="square" lIns="0" tIns="0" rIns="0" bIns="0" rtlCol="0" anchor="ctr"/>
          <a:lstStyle/>
          <a:p>
            <a:pPr indent="0" marL="0">
              <a:buNone/>
            </a:pPr>
            <a:r>
              <a:rPr lang="en-US" sz="3400" b="1" dirty="0">
                <a:solidFill>
                  <a:srgbClr val="2DE2FF"/>
                </a:solidFill>
                <a:latin typeface="Arial" pitchFamily="34" charset="0"/>
                <a:ea typeface="Arial" pitchFamily="34" charset="-122"/>
                <a:cs typeface="Arial" pitchFamily="34" charset="-120"/>
              </a:rPr>
              <a:t>4.02</a:t>
            </a:r>
            <a:endParaRPr lang="en-US" sz="3400" dirty="0"/>
          </a:p>
        </p:txBody>
      </p:sp>
      <p:sp>
        <p:nvSpPr>
          <p:cNvPr id="11" name="label expected spam per day (np)"/>
          <p:cNvSpPr txBox="1"/>
          <p:nvPr/>
        </p:nvSpPr>
        <p:spPr>
          <a:xfrm>
            <a:off x="731520" y="4965192"/>
            <a:ext cx="2103120" cy="320040"/>
          </a:xfrm>
          <a:prstGeom prst="rect">
            <a:avLst/>
          </a:prstGeom>
          <a:noFill/>
          <a:ln/>
        </p:spPr>
        <p:txBody>
          <a:bodyPr wrap="square" lIns="0" tIns="0" rIns="0" bIns="0" rtlCol="0" anchor="ctr"/>
          <a:lstStyle/>
          <a:p>
            <a:pPr indent="0" marL="0">
              <a:buNone/>
            </a:pPr>
            <a:r>
              <a:rPr lang="en-US" sz="1200" dirty="0">
                <a:solidFill>
                  <a:srgbClr val="8A8AA3"/>
                </a:solidFill>
              </a:rPr>
              <a:t>expected spam per day (np)</a:t>
            </a:r>
            <a:endParaRPr lang="en-US" sz="1200" dirty="0"/>
          </a:p>
        </p:txBody>
      </p:sp>
      <p:sp>
        <p:nvSpPr>
          <p:cNvPr id="12" name="stat standard deviation √(np(1−p))"/>
          <p:cNvSpPr/>
          <p:nvPr/>
        </p:nvSpPr>
        <p:spPr>
          <a:xfrm>
            <a:off x="3200400" y="4160520"/>
            <a:ext cx="2468880" cy="1234440"/>
          </a:xfrm>
          <a:prstGeom prst="roundRect">
            <a:avLst>
              <a:gd name="adj" fmla="val 8889"/>
            </a:avLst>
          </a:prstGeom>
          <a:solidFill>
            <a:srgbClr val="14131F"/>
          </a:solidFill>
          <a:ln w="9525">
            <a:solidFill>
              <a:srgbClr val="2A2840"/>
            </a:solidFill>
            <a:prstDash val="solid"/>
          </a:ln>
        </p:spPr>
      </p:sp>
      <p:sp>
        <p:nvSpPr>
          <p:cNvPr id="13" name="value standard deviation √(np(1−p))"/>
          <p:cNvSpPr txBox="1"/>
          <p:nvPr/>
        </p:nvSpPr>
        <p:spPr>
          <a:xfrm>
            <a:off x="3383280" y="4270248"/>
            <a:ext cx="2103120" cy="685800"/>
          </a:xfrm>
          <a:prstGeom prst="rect">
            <a:avLst/>
          </a:prstGeom>
          <a:noFill/>
          <a:ln/>
        </p:spPr>
        <p:txBody>
          <a:bodyPr wrap="square" lIns="0" tIns="0" rIns="0" bIns="0" rtlCol="0" anchor="ctr"/>
          <a:lstStyle/>
          <a:p>
            <a:pPr indent="0" marL="0">
              <a:buNone/>
            </a:pPr>
            <a:r>
              <a:rPr lang="en-US" sz="3400" b="1" dirty="0">
                <a:solidFill>
                  <a:srgbClr val="9B7BFF"/>
                </a:solidFill>
                <a:latin typeface="Arial" pitchFamily="34" charset="0"/>
                <a:ea typeface="Arial" pitchFamily="34" charset="-122"/>
                <a:cs typeface="Arial" pitchFamily="34" charset="-120"/>
              </a:rPr>
              <a:t>1.87</a:t>
            </a:r>
            <a:endParaRPr lang="en-US" sz="3400" dirty="0"/>
          </a:p>
        </p:txBody>
      </p:sp>
      <p:sp>
        <p:nvSpPr>
          <p:cNvPr id="14" name="label standard deviation √(np(1−p))"/>
          <p:cNvSpPr txBox="1"/>
          <p:nvPr/>
        </p:nvSpPr>
        <p:spPr>
          <a:xfrm>
            <a:off x="3383280" y="4965192"/>
            <a:ext cx="2103120" cy="320040"/>
          </a:xfrm>
          <a:prstGeom prst="rect">
            <a:avLst/>
          </a:prstGeom>
          <a:noFill/>
          <a:ln/>
        </p:spPr>
        <p:txBody>
          <a:bodyPr wrap="square" lIns="0" tIns="0" rIns="0" bIns="0" rtlCol="0" anchor="ctr"/>
          <a:lstStyle/>
          <a:p>
            <a:pPr indent="0" marL="0">
              <a:buNone/>
            </a:pPr>
            <a:r>
              <a:rPr lang="en-US" sz="1200" dirty="0">
                <a:solidFill>
                  <a:srgbClr val="8A8AA3"/>
                </a:solidFill>
              </a:rPr>
              <a:t>standard deviation √(np(1−p))</a:t>
            </a:r>
            <a:endParaRPr lang="en-US" sz="1200" dirty="0"/>
          </a:p>
        </p:txBody>
      </p:sp>
      <p:sp>
        <p:nvSpPr>
          <p:cNvPr id="15" name="website hint"/>
          <p:cNvSpPr txBox="1"/>
          <p:nvPr/>
        </p:nvSpPr>
        <p:spPr>
          <a:xfrm>
            <a:off x="548640" y="5623560"/>
            <a:ext cx="5120640" cy="548640"/>
          </a:xfrm>
          <a:prstGeom prst="rect">
            <a:avLst/>
          </a:prstGeom>
          <a:noFill/>
          <a:ln/>
        </p:spPr>
        <p:txBody>
          <a:bodyPr wrap="square" lIns="0" tIns="0" rIns="0" bIns="0" rtlCol="0" anchor="t"/>
          <a:lstStyle/>
          <a:p>
            <a:pPr indent="0" marL="0">
              <a:spcAft>
                <a:spcPts val="600"/>
              </a:spcAft>
              <a:buNone/>
            </a:pPr>
            <a:r>
              <a:rPr lang="en-US" sz="1300" dirty="0">
                <a:solidFill>
                  <a:schemeClr val="bg1"/>
                </a:solidFill>
              </a:rPr>
              <a:t>On the website: drag n and p, and press “Simulate a day” to watch the average converge to np.</a:t>
            </a:r>
            <a:endParaRPr lang="en-US" sz="1300" dirty="0"/>
          </a:p>
        </p:txBody>
      </p:sp>
      <p:pic>
        <p:nvPicPr>
          <p:cNvPr id="16" name="Binomial pmf plotted in R" descr="Binomial pmf plotted in R">    </p:cNvPr>
          <p:cNvPicPr>
            <a:picLocks noChangeAspect="1"/>
          </p:cNvPicPr>
          <p:nvPr/>
        </p:nvPicPr>
        <p:blipFill>
          <a:blip r:embed="rId1"/>
          <a:stretch>
            <a:fillRect/>
          </a:stretch>
        </p:blipFill>
        <p:spPr>
          <a:xfrm>
            <a:off x="6035040" y="1691640"/>
            <a:ext cx="5623560" cy="3454473"/>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03 · THE DATA</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5,574 real text messages</a:t>
            </a:r>
            <a:endParaRPr lang="en-US" sz="3600" dirty="0"/>
          </a:p>
        </p:txBody>
      </p:sp>
      <p:sp>
        <p:nvSpPr>
          <p:cNvPr id="5" name="stat messages"/>
          <p:cNvSpPr/>
          <p:nvPr/>
        </p:nvSpPr>
        <p:spPr>
          <a:xfrm>
            <a:off x="548640" y="1691640"/>
            <a:ext cx="2606040" cy="1234440"/>
          </a:xfrm>
          <a:prstGeom prst="roundRect">
            <a:avLst>
              <a:gd name="adj" fmla="val 8889"/>
            </a:avLst>
          </a:prstGeom>
          <a:solidFill>
            <a:srgbClr val="14131F"/>
          </a:solidFill>
          <a:ln w="9525">
            <a:solidFill>
              <a:srgbClr val="2A2840"/>
            </a:solidFill>
            <a:prstDash val="solid"/>
          </a:ln>
        </p:spPr>
      </p:sp>
      <p:sp>
        <p:nvSpPr>
          <p:cNvPr id="6" name="value messages"/>
          <p:cNvSpPr txBox="1"/>
          <p:nvPr/>
        </p:nvSpPr>
        <p:spPr>
          <a:xfrm>
            <a:off x="731520" y="1801368"/>
            <a:ext cx="2240280" cy="685800"/>
          </a:xfrm>
          <a:prstGeom prst="rect">
            <a:avLst/>
          </a:prstGeom>
          <a:noFill/>
          <a:ln/>
        </p:spPr>
        <p:txBody>
          <a:bodyPr wrap="square" lIns="0" tIns="0" rIns="0" bIns="0" rtlCol="0" anchor="ctr"/>
          <a:lstStyle/>
          <a:p>
            <a:pPr indent="0" marL="0">
              <a:buNone/>
            </a:pPr>
            <a:r>
              <a:rPr lang="en-US" sz="4000" b="1" dirty="0">
                <a:solidFill>
                  <a:srgbClr val="C6FF3D"/>
                </a:solidFill>
                <a:latin typeface="Arial" pitchFamily="34" charset="0"/>
                <a:ea typeface="Arial" pitchFamily="34" charset="-122"/>
                <a:cs typeface="Arial" pitchFamily="34" charset="-120"/>
              </a:rPr>
              <a:t>5,574</a:t>
            </a:r>
            <a:endParaRPr lang="en-US" sz="4000" dirty="0"/>
          </a:p>
        </p:txBody>
      </p:sp>
      <p:sp>
        <p:nvSpPr>
          <p:cNvPr id="7" name="label messages"/>
          <p:cNvSpPr txBox="1"/>
          <p:nvPr/>
        </p:nvSpPr>
        <p:spPr>
          <a:xfrm>
            <a:off x="731520" y="2496312"/>
            <a:ext cx="2240280" cy="320040"/>
          </a:xfrm>
          <a:prstGeom prst="rect">
            <a:avLst/>
          </a:prstGeom>
          <a:noFill/>
          <a:ln/>
        </p:spPr>
        <p:txBody>
          <a:bodyPr wrap="square" lIns="0" tIns="0" rIns="0" bIns="0" rtlCol="0" anchor="ctr"/>
          <a:lstStyle/>
          <a:p>
            <a:pPr indent="0" marL="0">
              <a:buNone/>
            </a:pPr>
            <a:r>
              <a:rPr lang="en-US" sz="1200" dirty="0">
                <a:solidFill>
                  <a:srgbClr val="8A8AA3"/>
                </a:solidFill>
              </a:rPr>
              <a:t>messages</a:t>
            </a:r>
            <a:endParaRPr lang="en-US" sz="1200" dirty="0"/>
          </a:p>
        </p:txBody>
      </p:sp>
      <p:sp>
        <p:nvSpPr>
          <p:cNvPr id="8" name="stat spam"/>
          <p:cNvSpPr/>
          <p:nvPr/>
        </p:nvSpPr>
        <p:spPr>
          <a:xfrm>
            <a:off x="3364992" y="1691640"/>
            <a:ext cx="2606040" cy="1234440"/>
          </a:xfrm>
          <a:prstGeom prst="roundRect">
            <a:avLst>
              <a:gd name="adj" fmla="val 8889"/>
            </a:avLst>
          </a:prstGeom>
          <a:solidFill>
            <a:srgbClr val="14131F"/>
          </a:solidFill>
          <a:ln w="9525">
            <a:solidFill>
              <a:srgbClr val="2A2840"/>
            </a:solidFill>
            <a:prstDash val="solid"/>
          </a:ln>
        </p:spPr>
      </p:sp>
      <p:sp>
        <p:nvSpPr>
          <p:cNvPr id="9" name="value spam"/>
          <p:cNvSpPr txBox="1"/>
          <p:nvPr/>
        </p:nvSpPr>
        <p:spPr>
          <a:xfrm>
            <a:off x="3547872" y="1801368"/>
            <a:ext cx="2240280" cy="685800"/>
          </a:xfrm>
          <a:prstGeom prst="rect">
            <a:avLst/>
          </a:prstGeom>
          <a:noFill/>
          <a:ln/>
        </p:spPr>
        <p:txBody>
          <a:bodyPr wrap="square" lIns="0" tIns="0" rIns="0" bIns="0" rtlCol="0" anchor="ctr"/>
          <a:lstStyle/>
          <a:p>
            <a:pPr indent="0" marL="0">
              <a:buNone/>
            </a:pPr>
            <a:r>
              <a:rPr lang="en-US" sz="4000" b="1" dirty="0">
                <a:solidFill>
                  <a:srgbClr val="FF2BD6"/>
                </a:solidFill>
                <a:latin typeface="Arial" pitchFamily="34" charset="0"/>
                <a:ea typeface="Arial" pitchFamily="34" charset="-122"/>
                <a:cs typeface="Arial" pitchFamily="34" charset="-120"/>
              </a:rPr>
              <a:t>747</a:t>
            </a:r>
            <a:endParaRPr lang="en-US" sz="4000" dirty="0"/>
          </a:p>
        </p:txBody>
      </p:sp>
      <p:sp>
        <p:nvSpPr>
          <p:cNvPr id="10" name="label spam"/>
          <p:cNvSpPr txBox="1"/>
          <p:nvPr/>
        </p:nvSpPr>
        <p:spPr>
          <a:xfrm>
            <a:off x="3547872" y="2496312"/>
            <a:ext cx="2240280" cy="320040"/>
          </a:xfrm>
          <a:prstGeom prst="rect">
            <a:avLst/>
          </a:prstGeom>
          <a:noFill/>
          <a:ln/>
        </p:spPr>
        <p:txBody>
          <a:bodyPr wrap="square" lIns="0" tIns="0" rIns="0" bIns="0" rtlCol="0" anchor="ctr"/>
          <a:lstStyle/>
          <a:p>
            <a:pPr indent="0" marL="0">
              <a:buNone/>
            </a:pPr>
            <a:r>
              <a:rPr lang="en-US" sz="1200" dirty="0">
                <a:solidFill>
                  <a:srgbClr val="8A8AA3"/>
                </a:solidFill>
              </a:rPr>
              <a:t>spam</a:t>
            </a:r>
            <a:endParaRPr lang="en-US" sz="1200" dirty="0"/>
          </a:p>
        </p:txBody>
      </p:sp>
      <p:sp>
        <p:nvSpPr>
          <p:cNvPr id="11" name="stat ham (normal)"/>
          <p:cNvSpPr/>
          <p:nvPr/>
        </p:nvSpPr>
        <p:spPr>
          <a:xfrm>
            <a:off x="6181344" y="1691640"/>
            <a:ext cx="2606040" cy="1234440"/>
          </a:xfrm>
          <a:prstGeom prst="roundRect">
            <a:avLst>
              <a:gd name="adj" fmla="val 8889"/>
            </a:avLst>
          </a:prstGeom>
          <a:solidFill>
            <a:srgbClr val="14131F"/>
          </a:solidFill>
          <a:ln w="9525">
            <a:solidFill>
              <a:srgbClr val="2A2840"/>
            </a:solidFill>
            <a:prstDash val="solid"/>
          </a:ln>
        </p:spPr>
      </p:sp>
      <p:sp>
        <p:nvSpPr>
          <p:cNvPr id="12" name="value ham (normal)"/>
          <p:cNvSpPr txBox="1"/>
          <p:nvPr/>
        </p:nvSpPr>
        <p:spPr>
          <a:xfrm>
            <a:off x="6364224" y="1801368"/>
            <a:ext cx="2240280" cy="685800"/>
          </a:xfrm>
          <a:prstGeom prst="rect">
            <a:avLst/>
          </a:prstGeom>
          <a:noFill/>
          <a:ln/>
        </p:spPr>
        <p:txBody>
          <a:bodyPr wrap="square" lIns="0" tIns="0" rIns="0" bIns="0" rtlCol="0" anchor="ctr"/>
          <a:lstStyle/>
          <a:p>
            <a:pPr indent="0" marL="0">
              <a:buNone/>
            </a:pPr>
            <a:r>
              <a:rPr lang="en-US" sz="4000" b="1" dirty="0">
                <a:solidFill>
                  <a:srgbClr val="2DE2FF"/>
                </a:solidFill>
                <a:latin typeface="Arial" pitchFamily="34" charset="0"/>
                <a:ea typeface="Arial" pitchFamily="34" charset="-122"/>
                <a:cs typeface="Arial" pitchFamily="34" charset="-120"/>
              </a:rPr>
              <a:t>4,827</a:t>
            </a:r>
            <a:endParaRPr lang="en-US" sz="4000" dirty="0"/>
          </a:p>
        </p:txBody>
      </p:sp>
      <p:sp>
        <p:nvSpPr>
          <p:cNvPr id="13" name="label ham (normal)"/>
          <p:cNvSpPr txBox="1"/>
          <p:nvPr/>
        </p:nvSpPr>
        <p:spPr>
          <a:xfrm>
            <a:off x="6364224" y="2496312"/>
            <a:ext cx="2240280" cy="320040"/>
          </a:xfrm>
          <a:prstGeom prst="rect">
            <a:avLst/>
          </a:prstGeom>
          <a:noFill/>
          <a:ln/>
        </p:spPr>
        <p:txBody>
          <a:bodyPr wrap="square" lIns="0" tIns="0" rIns="0" bIns="0" rtlCol="0" anchor="ctr"/>
          <a:lstStyle/>
          <a:p>
            <a:pPr indent="0" marL="0">
              <a:buNone/>
            </a:pPr>
            <a:r>
              <a:rPr lang="en-US" sz="1200" dirty="0">
                <a:solidFill>
                  <a:srgbClr val="8A8AA3"/>
                </a:solidFill>
              </a:rPr>
              <a:t>ham (normal)</a:t>
            </a:r>
            <a:endParaRPr lang="en-US" sz="1200" dirty="0"/>
          </a:p>
        </p:txBody>
      </p:sp>
      <p:sp>
        <p:nvSpPr>
          <p:cNvPr id="14" name="stat different words"/>
          <p:cNvSpPr/>
          <p:nvPr/>
        </p:nvSpPr>
        <p:spPr>
          <a:xfrm>
            <a:off x="8997696" y="1691640"/>
            <a:ext cx="2606040" cy="1234440"/>
          </a:xfrm>
          <a:prstGeom prst="roundRect">
            <a:avLst>
              <a:gd name="adj" fmla="val 8889"/>
            </a:avLst>
          </a:prstGeom>
          <a:solidFill>
            <a:srgbClr val="14131F"/>
          </a:solidFill>
          <a:ln w="9525">
            <a:solidFill>
              <a:srgbClr val="2A2840"/>
            </a:solidFill>
            <a:prstDash val="solid"/>
          </a:ln>
        </p:spPr>
      </p:sp>
      <p:sp>
        <p:nvSpPr>
          <p:cNvPr id="15" name="value different words"/>
          <p:cNvSpPr txBox="1"/>
          <p:nvPr/>
        </p:nvSpPr>
        <p:spPr>
          <a:xfrm>
            <a:off x="9180576" y="1801368"/>
            <a:ext cx="2240280" cy="685800"/>
          </a:xfrm>
          <a:prstGeom prst="rect">
            <a:avLst/>
          </a:prstGeom>
          <a:noFill/>
          <a:ln/>
        </p:spPr>
        <p:txBody>
          <a:bodyPr wrap="square" lIns="0" tIns="0" rIns="0" bIns="0" rtlCol="0" anchor="ctr"/>
          <a:lstStyle/>
          <a:p>
            <a:pPr indent="0" marL="0">
              <a:buNone/>
            </a:pPr>
            <a:r>
              <a:rPr lang="en-US" sz="4000" b="1" dirty="0">
                <a:solidFill>
                  <a:srgbClr val="9B7BFF"/>
                </a:solidFill>
                <a:latin typeface="Arial" pitchFamily="34" charset="0"/>
                <a:ea typeface="Arial" pitchFamily="34" charset="-122"/>
                <a:cs typeface="Arial" pitchFamily="34" charset="-120"/>
              </a:rPr>
              <a:t>7,211</a:t>
            </a:r>
            <a:endParaRPr lang="en-US" sz="4000" dirty="0"/>
          </a:p>
        </p:txBody>
      </p:sp>
      <p:sp>
        <p:nvSpPr>
          <p:cNvPr id="16" name="label different words"/>
          <p:cNvSpPr txBox="1"/>
          <p:nvPr/>
        </p:nvSpPr>
        <p:spPr>
          <a:xfrm>
            <a:off x="9180576" y="2496312"/>
            <a:ext cx="2240280" cy="320040"/>
          </a:xfrm>
          <a:prstGeom prst="rect">
            <a:avLst/>
          </a:prstGeom>
          <a:noFill/>
          <a:ln/>
        </p:spPr>
        <p:txBody>
          <a:bodyPr wrap="square" lIns="0" tIns="0" rIns="0" bIns="0" rtlCol="0" anchor="ctr"/>
          <a:lstStyle/>
          <a:p>
            <a:pPr indent="0" marL="0">
              <a:buNone/>
            </a:pPr>
            <a:r>
              <a:rPr lang="en-US" sz="1200" dirty="0">
                <a:solidFill>
                  <a:srgbClr val="8A8AA3"/>
                </a:solidFill>
              </a:rPr>
              <a:t>different words</a:t>
            </a:r>
            <a:endParaRPr lang="en-US" sz="1200" dirty="0"/>
          </a:p>
        </p:txBody>
      </p:sp>
      <p:sp>
        <p:nvSpPr>
          <p:cNvPr id="17" name="SPAM example"/>
          <p:cNvSpPr/>
          <p:nvPr/>
        </p:nvSpPr>
        <p:spPr>
          <a:xfrm>
            <a:off x="548640" y="3246120"/>
            <a:ext cx="5440680" cy="2331720"/>
          </a:xfrm>
          <a:prstGeom prst="roundRect">
            <a:avLst>
              <a:gd name="adj" fmla="val 4706"/>
            </a:avLst>
          </a:prstGeom>
          <a:solidFill>
            <a:srgbClr val="14131F"/>
          </a:solidFill>
          <a:ln w="9525">
            <a:solidFill>
              <a:srgbClr val="2A2840"/>
            </a:solidFill>
            <a:prstDash val="solid"/>
          </a:ln>
        </p:spPr>
      </p:sp>
      <p:sp>
        <p:nvSpPr>
          <p:cNvPr id="18" name="SPAM tag"/>
          <p:cNvSpPr txBox="1"/>
          <p:nvPr/>
        </p:nvSpPr>
        <p:spPr>
          <a:xfrm>
            <a:off x="822960" y="3429000"/>
            <a:ext cx="4846320" cy="320040"/>
          </a:xfrm>
          <a:prstGeom prst="rect">
            <a:avLst/>
          </a:prstGeom>
          <a:noFill/>
          <a:ln/>
        </p:spPr>
        <p:txBody>
          <a:bodyPr wrap="square" lIns="0" tIns="0" rIns="0" bIns="0" rtlCol="0" anchor="ctr"/>
          <a:lstStyle/>
          <a:p>
            <a:pPr indent="0" marL="0">
              <a:buNone/>
            </a:pPr>
            <a:r>
              <a:rPr lang="en-US" sz="1300" b="1" spc="200" kern="0" dirty="0">
                <a:solidFill>
                  <a:srgbClr val="FF2BD6"/>
                </a:solidFill>
              </a:rPr>
              <a:t>SPAM</a:t>
            </a:r>
            <a:endParaRPr lang="en-US" sz="1300" dirty="0"/>
          </a:p>
        </p:txBody>
      </p:sp>
      <p:sp>
        <p:nvSpPr>
          <p:cNvPr id="19" name="SPAM message"/>
          <p:cNvSpPr txBox="1"/>
          <p:nvPr/>
        </p:nvSpPr>
        <p:spPr>
          <a:xfrm>
            <a:off x="822960" y="3794760"/>
            <a:ext cx="4892040" cy="1645920"/>
          </a:xfrm>
          <a:prstGeom prst="rect">
            <a:avLst/>
          </a:prstGeom>
          <a:noFill/>
          <a:ln/>
        </p:spPr>
        <p:txBody>
          <a:bodyPr wrap="square" lIns="0" tIns="0" rIns="0" bIns="0" rtlCol="0" anchor="t"/>
          <a:lstStyle/>
          <a:p>
            <a:pPr indent="0" marL="0">
              <a:buNone/>
            </a:pPr>
            <a:r>
              <a:rPr lang="en-US" sz="1500" i="1" dirty="0">
                <a:solidFill>
                  <a:schemeClr val="bg1"/>
                </a:solidFill>
              </a:rPr>
              <a:t>“SIX chances to win CASH! From 100 to 20,000 pounds txt&gt; CSH11 and send to 87575. Cost 150p/day, 6days, 16+ TsandCs apply Reply HL 4 info”</a:t>
            </a:r>
            <a:endParaRPr lang="en-US" sz="1500" dirty="0"/>
          </a:p>
        </p:txBody>
      </p:sp>
      <p:sp>
        <p:nvSpPr>
          <p:cNvPr id="20" name="HAM example"/>
          <p:cNvSpPr/>
          <p:nvPr/>
        </p:nvSpPr>
        <p:spPr>
          <a:xfrm>
            <a:off x="6199632" y="3246120"/>
            <a:ext cx="5440680" cy="2331720"/>
          </a:xfrm>
          <a:prstGeom prst="roundRect">
            <a:avLst>
              <a:gd name="adj" fmla="val 4706"/>
            </a:avLst>
          </a:prstGeom>
          <a:solidFill>
            <a:srgbClr val="14131F"/>
          </a:solidFill>
          <a:ln w="9525">
            <a:solidFill>
              <a:srgbClr val="2A2840"/>
            </a:solidFill>
            <a:prstDash val="solid"/>
          </a:ln>
        </p:spPr>
      </p:sp>
      <p:sp>
        <p:nvSpPr>
          <p:cNvPr id="21" name="HAM tag"/>
          <p:cNvSpPr txBox="1"/>
          <p:nvPr/>
        </p:nvSpPr>
        <p:spPr>
          <a:xfrm>
            <a:off x="6473952" y="3429000"/>
            <a:ext cx="4846320" cy="320040"/>
          </a:xfrm>
          <a:prstGeom prst="rect">
            <a:avLst/>
          </a:prstGeom>
          <a:noFill/>
          <a:ln/>
        </p:spPr>
        <p:txBody>
          <a:bodyPr wrap="square" lIns="0" tIns="0" rIns="0" bIns="0" rtlCol="0" anchor="ctr"/>
          <a:lstStyle/>
          <a:p>
            <a:pPr indent="0" marL="0">
              <a:buNone/>
            </a:pPr>
            <a:r>
              <a:rPr lang="en-US" sz="1300" b="1" spc="200" kern="0" dirty="0">
                <a:solidFill>
                  <a:srgbClr val="2DE2FF"/>
                </a:solidFill>
              </a:rPr>
              <a:t>HAM</a:t>
            </a:r>
            <a:endParaRPr lang="en-US" sz="1300" dirty="0"/>
          </a:p>
        </p:txBody>
      </p:sp>
      <p:sp>
        <p:nvSpPr>
          <p:cNvPr id="22" name="HAM message"/>
          <p:cNvSpPr txBox="1"/>
          <p:nvPr/>
        </p:nvSpPr>
        <p:spPr>
          <a:xfrm>
            <a:off x="6473952" y="3794760"/>
            <a:ext cx="4892040" cy="1645920"/>
          </a:xfrm>
          <a:prstGeom prst="rect">
            <a:avLst/>
          </a:prstGeom>
          <a:noFill/>
          <a:ln/>
        </p:spPr>
        <p:txBody>
          <a:bodyPr wrap="square" lIns="0" tIns="0" rIns="0" bIns="0" rtlCol="0" anchor="t"/>
          <a:lstStyle/>
          <a:p>
            <a:pPr indent="0" marL="0">
              <a:buNone/>
            </a:pPr>
            <a:r>
              <a:rPr lang="en-US" sz="1500" i="1" dirty="0">
                <a:solidFill>
                  <a:schemeClr val="bg1"/>
                </a:solidFill>
              </a:rPr>
              <a:t>“U dun say so early hor... U c already then say...”</a:t>
            </a:r>
            <a:endParaRPr lang="en-US" sz="1500" dirty="0"/>
          </a:p>
        </p:txBody>
      </p:sp>
      <p:sp>
        <p:nvSpPr>
          <p:cNvPr id="23" name="source"/>
          <p:cNvSpPr txBox="1"/>
          <p:nvPr/>
        </p:nvSpPr>
        <p:spPr>
          <a:xfrm>
            <a:off x="548640" y="5806440"/>
            <a:ext cx="11064240" cy="365760"/>
          </a:xfrm>
          <a:prstGeom prst="rect">
            <a:avLst/>
          </a:prstGeom>
          <a:noFill/>
          <a:ln/>
        </p:spPr>
        <p:txBody>
          <a:bodyPr wrap="square" lIns="0" tIns="0" rIns="0" bIns="0" rtlCol="0" anchor="t"/>
          <a:lstStyle/>
          <a:p>
            <a:pPr indent="0" marL="0">
              <a:spcAft>
                <a:spcPts val="600"/>
              </a:spcAft>
              <a:buNone/>
            </a:pPr>
            <a:r>
              <a:rPr lang="en-US" sz="1200" dirty="0">
                <a:solidFill>
                  <a:schemeClr val="bg1"/>
                </a:solidFill>
              </a:rPr>
              <a:t>Source: UCI SMS Spam Collection (Almeida &amp; Hidalgo, 2011). Every number in this talk was computed by analysis.R.</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04 · DESCRIPTIVE STATISTICS · WELCH T-TEST</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Spam talks too much</a:t>
            </a:r>
            <a:endParaRPr lang="en-US" sz="3600" dirty="0"/>
          </a:p>
        </p:txBody>
      </p:sp>
      <p:pic>
        <p:nvPicPr>
          <p:cNvPr id="5" name="Histogram of message length, spam vs ham" descr="Histogram of message length, spam vs ham">    </p:cNvPr>
          <p:cNvPicPr>
            <a:picLocks noChangeAspect="1"/>
          </p:cNvPicPr>
          <p:nvPr/>
        </p:nvPicPr>
        <p:blipFill>
          <a:blip r:embed="rId1"/>
          <a:stretch>
            <a:fillRect/>
          </a:stretch>
        </p:blipFill>
        <p:spPr>
          <a:xfrm>
            <a:off x="548640" y="1691640"/>
            <a:ext cx="6492240" cy="3988090"/>
          </a:xfrm>
          <a:prstGeom prst="rect">
            <a:avLst/>
          </a:prstGeom>
        </p:spPr>
      </p:pic>
      <p:sp>
        <p:nvSpPr>
          <p:cNvPr id="6" name="stat ham median (chars)"/>
          <p:cNvSpPr/>
          <p:nvPr/>
        </p:nvSpPr>
        <p:spPr>
          <a:xfrm>
            <a:off x="7315200" y="1691640"/>
            <a:ext cx="2103120" cy="1234440"/>
          </a:xfrm>
          <a:prstGeom prst="roundRect">
            <a:avLst>
              <a:gd name="adj" fmla="val 8889"/>
            </a:avLst>
          </a:prstGeom>
          <a:solidFill>
            <a:srgbClr val="14131F"/>
          </a:solidFill>
          <a:ln w="9525">
            <a:solidFill>
              <a:srgbClr val="2A2840"/>
            </a:solidFill>
            <a:prstDash val="solid"/>
          </a:ln>
        </p:spPr>
      </p:sp>
      <p:sp>
        <p:nvSpPr>
          <p:cNvPr id="7" name="value ham median (chars)"/>
          <p:cNvSpPr txBox="1"/>
          <p:nvPr/>
        </p:nvSpPr>
        <p:spPr>
          <a:xfrm>
            <a:off x="7498080" y="1801368"/>
            <a:ext cx="1737360" cy="685800"/>
          </a:xfrm>
          <a:prstGeom prst="rect">
            <a:avLst/>
          </a:prstGeom>
          <a:noFill/>
          <a:ln/>
        </p:spPr>
        <p:txBody>
          <a:bodyPr wrap="square" lIns="0" tIns="0" rIns="0" bIns="0" rtlCol="0" anchor="ctr"/>
          <a:lstStyle/>
          <a:p>
            <a:pPr indent="0" marL="0">
              <a:buNone/>
            </a:pPr>
            <a:r>
              <a:rPr lang="en-US" sz="3400" b="1" dirty="0">
                <a:solidFill>
                  <a:srgbClr val="2DE2FF"/>
                </a:solidFill>
                <a:latin typeface="Arial" pitchFamily="34" charset="0"/>
                <a:ea typeface="Arial" pitchFamily="34" charset="-122"/>
                <a:cs typeface="Arial" pitchFamily="34" charset="-120"/>
              </a:rPr>
              <a:t>52</a:t>
            </a:r>
            <a:endParaRPr lang="en-US" sz="3400" dirty="0"/>
          </a:p>
        </p:txBody>
      </p:sp>
      <p:sp>
        <p:nvSpPr>
          <p:cNvPr id="8" name="label ham median (chars)"/>
          <p:cNvSpPr txBox="1"/>
          <p:nvPr/>
        </p:nvSpPr>
        <p:spPr>
          <a:xfrm>
            <a:off x="7498080" y="2496312"/>
            <a:ext cx="1737360" cy="320040"/>
          </a:xfrm>
          <a:prstGeom prst="rect">
            <a:avLst/>
          </a:prstGeom>
          <a:noFill/>
          <a:ln/>
        </p:spPr>
        <p:txBody>
          <a:bodyPr wrap="square" lIns="0" tIns="0" rIns="0" bIns="0" rtlCol="0" anchor="ctr"/>
          <a:lstStyle/>
          <a:p>
            <a:pPr indent="0" marL="0">
              <a:buNone/>
            </a:pPr>
            <a:r>
              <a:rPr lang="en-US" sz="1200" dirty="0">
                <a:solidFill>
                  <a:srgbClr val="8A8AA3"/>
                </a:solidFill>
              </a:rPr>
              <a:t>ham median (chars)</a:t>
            </a:r>
            <a:endParaRPr lang="en-US" sz="1200" dirty="0"/>
          </a:p>
        </p:txBody>
      </p:sp>
      <p:sp>
        <p:nvSpPr>
          <p:cNvPr id="9" name="stat spam median (chars)"/>
          <p:cNvSpPr/>
          <p:nvPr/>
        </p:nvSpPr>
        <p:spPr>
          <a:xfrm>
            <a:off x="9555480" y="1691640"/>
            <a:ext cx="2103120" cy="1234440"/>
          </a:xfrm>
          <a:prstGeom prst="roundRect">
            <a:avLst>
              <a:gd name="adj" fmla="val 8889"/>
            </a:avLst>
          </a:prstGeom>
          <a:solidFill>
            <a:srgbClr val="14131F"/>
          </a:solidFill>
          <a:ln w="9525">
            <a:solidFill>
              <a:srgbClr val="2A2840"/>
            </a:solidFill>
            <a:prstDash val="solid"/>
          </a:ln>
        </p:spPr>
      </p:sp>
      <p:sp>
        <p:nvSpPr>
          <p:cNvPr id="10" name="value spam median (chars)"/>
          <p:cNvSpPr txBox="1"/>
          <p:nvPr/>
        </p:nvSpPr>
        <p:spPr>
          <a:xfrm>
            <a:off x="9738360" y="1801368"/>
            <a:ext cx="1737360" cy="685800"/>
          </a:xfrm>
          <a:prstGeom prst="rect">
            <a:avLst/>
          </a:prstGeom>
          <a:noFill/>
          <a:ln/>
        </p:spPr>
        <p:txBody>
          <a:bodyPr wrap="square" lIns="0" tIns="0" rIns="0" bIns="0" rtlCol="0" anchor="ctr"/>
          <a:lstStyle/>
          <a:p>
            <a:pPr indent="0" marL="0">
              <a:buNone/>
            </a:pPr>
            <a:r>
              <a:rPr lang="en-US" sz="3400" b="1" dirty="0">
                <a:solidFill>
                  <a:srgbClr val="FF2BD6"/>
                </a:solidFill>
                <a:latin typeface="Arial" pitchFamily="34" charset="0"/>
                <a:ea typeface="Arial" pitchFamily="34" charset="-122"/>
                <a:cs typeface="Arial" pitchFamily="34" charset="-120"/>
              </a:rPr>
              <a:t>149</a:t>
            </a:r>
            <a:endParaRPr lang="en-US" sz="3400" dirty="0"/>
          </a:p>
        </p:txBody>
      </p:sp>
      <p:sp>
        <p:nvSpPr>
          <p:cNvPr id="11" name="label spam median (chars)"/>
          <p:cNvSpPr txBox="1"/>
          <p:nvPr/>
        </p:nvSpPr>
        <p:spPr>
          <a:xfrm>
            <a:off x="9738360" y="2496312"/>
            <a:ext cx="1737360" cy="320040"/>
          </a:xfrm>
          <a:prstGeom prst="rect">
            <a:avLst/>
          </a:prstGeom>
          <a:noFill/>
          <a:ln/>
        </p:spPr>
        <p:txBody>
          <a:bodyPr wrap="square" lIns="0" tIns="0" rIns="0" bIns="0" rtlCol="0" anchor="ctr"/>
          <a:lstStyle/>
          <a:p>
            <a:pPr indent="0" marL="0">
              <a:buNone/>
            </a:pPr>
            <a:r>
              <a:rPr lang="en-US" sz="1200" dirty="0">
                <a:solidFill>
                  <a:srgbClr val="8A8AA3"/>
                </a:solidFill>
              </a:rPr>
              <a:t>spam median (chars)</a:t>
            </a:r>
            <a:endParaRPr lang="en-US" sz="1200" dirty="0"/>
          </a:p>
        </p:txBody>
      </p:sp>
      <p:sp>
        <p:nvSpPr>
          <p:cNvPr id="12" name="t-test card"/>
          <p:cNvSpPr/>
          <p:nvPr/>
        </p:nvSpPr>
        <p:spPr>
          <a:xfrm>
            <a:off x="7315200" y="3108960"/>
            <a:ext cx="4343400" cy="2743200"/>
          </a:xfrm>
          <a:prstGeom prst="roundRect">
            <a:avLst>
              <a:gd name="adj" fmla="val 4000"/>
            </a:avLst>
          </a:prstGeom>
          <a:solidFill>
            <a:srgbClr val="14131F"/>
          </a:solidFill>
          <a:ln w="9525">
            <a:solidFill>
              <a:srgbClr val="2A2840"/>
            </a:solidFill>
            <a:prstDash val="solid"/>
          </a:ln>
        </p:spPr>
      </p:sp>
      <p:sp>
        <p:nvSpPr>
          <p:cNvPr id="13" name="t-test result"/>
          <p:cNvSpPr txBox="1"/>
          <p:nvPr/>
        </p:nvSpPr>
        <p:spPr>
          <a:xfrm>
            <a:off x="7543800" y="3291840"/>
            <a:ext cx="3931920" cy="246888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Is the difference real?</a:t>
            </a:r>
            <a:endParaRPr lang="en-US" sz="1500" dirty="0"/>
          </a:p>
          <a:p>
            <a:pPr indent="0" marL="0">
              <a:spcAft>
                <a:spcPts val="600"/>
              </a:spcAft>
              <a:buNone/>
            </a:pPr>
            <a:r>
              <a:rPr lang="en-US" sz="1500" dirty="0">
                <a:solidFill>
                  <a:schemeClr val="accent3"/>
                </a:solidFill>
              </a:rPr>
              <a:t>Welch t = -49.8, p &lt; 2.2e-16</a:t>
            </a:r>
            <a:endParaRPr lang="en-US" sz="1500" dirty="0"/>
          </a:p>
          <a:p>
            <a:pPr indent="0" marL="0">
              <a:spcAft>
                <a:spcPts val="600"/>
              </a:spcAft>
              <a:buNone/>
            </a:pPr>
            <a:r>
              <a:rPr lang="en-US" sz="1500" dirty="0">
                <a:solidFill>
                  <a:schemeClr val="bg1"/>
                </a:solidFill>
              </a:rPr>
              <a:t>Spam is 65–70 characters longer (95% CI)</a:t>
            </a:r>
            <a:endParaRPr lang="en-US" sz="1500" dirty="0"/>
          </a:p>
          <a:p>
            <a:pPr indent="0" marL="0">
              <a:spcAft>
                <a:spcPts val="600"/>
              </a:spcAft>
              <a:buNone/>
            </a:pPr>
            <a:r>
              <a:rPr lang="en-US" sz="1500" dirty="0">
                <a:solidFill>
                  <a:schemeClr val="bg2"/>
                </a:solidFill>
              </a:rPr>
              <a:t>Ham is right-skewed: mean 71.5 &gt; median 52. Spam fills one SMS (160 chars).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05 · BAYES' THEOREM</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The word “free”</a:t>
            </a:r>
            <a:endParaRPr lang="en-US" sz="3600" dirty="0"/>
          </a:p>
        </p:txBody>
      </p:sp>
      <p:sp>
        <p:nvSpPr>
          <p:cNvPr id="5" name="Bayes formula card"/>
          <p:cNvSpPr/>
          <p:nvPr/>
        </p:nvSpPr>
        <p:spPr>
          <a:xfrm>
            <a:off x="548640" y="1691640"/>
            <a:ext cx="5486400" cy="1874520"/>
          </a:xfrm>
          <a:prstGeom prst="roundRect">
            <a:avLst>
              <a:gd name="adj" fmla="val 5854"/>
            </a:avLst>
          </a:prstGeom>
          <a:solidFill>
            <a:srgbClr val="14131F"/>
          </a:solidFill>
          <a:ln w="9525">
            <a:solidFill>
              <a:srgbClr val="2A2840"/>
            </a:solidFill>
            <a:prstDash val="solid"/>
          </a:ln>
        </p:spPr>
      </p:sp>
      <p:sp>
        <p:nvSpPr>
          <p:cNvPr id="6" name="Bayes calculation"/>
          <p:cNvSpPr txBox="1"/>
          <p:nvPr/>
        </p:nvSpPr>
        <p:spPr>
          <a:xfrm>
            <a:off x="777240" y="1874520"/>
            <a:ext cx="5120640" cy="155448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P(spam | free) = P(free | spam) · P(spam) / P(free)</a:t>
            </a:r>
            <a:endParaRPr lang="en-US" sz="1700" dirty="0"/>
          </a:p>
          <a:p>
            <a:pPr indent="0" marL="0">
              <a:spcAft>
                <a:spcPts val="600"/>
              </a:spcAft>
              <a:buNone/>
            </a:pPr>
            <a:r>
              <a:rPr lang="en-US" sz="1700" dirty="0">
                <a:solidFill>
                  <a:schemeClr val="bg2"/>
                </a:solidFill>
              </a:rPr>
              <a:t>= 0.228 × 0.134 / 0.041 = </a:t>
            </a:r>
            <a:pPr indent="0" marL="0">
              <a:spcAft>
                <a:spcPts val="600"/>
              </a:spcAft>
              <a:buNone/>
            </a:pPr>
            <a:r>
              <a:rPr lang="en-US" sz="2600" b="1" dirty="0">
                <a:solidFill>
                  <a:schemeClr val="accent1"/>
                </a:solidFill>
              </a:rPr>
              <a:t>74.2%</a:t>
            </a:r>
            <a:endParaRPr lang="en-US" sz="1700" dirty="0"/>
          </a:p>
        </p:txBody>
      </p:sp>
      <p:pic>
        <p:nvPicPr>
          <p:cNvPr id="7" name="P(spam given word) for 15 words" descr="P(spam given word) for 15 words">    </p:cNvPr>
          <p:cNvPicPr>
            <a:picLocks noChangeAspect="1"/>
          </p:cNvPicPr>
          <p:nvPr/>
        </p:nvPicPr>
        <p:blipFill>
          <a:blip r:embed="rId1"/>
          <a:stretch>
            <a:fillRect/>
          </a:stretch>
        </p:blipFill>
        <p:spPr>
          <a:xfrm>
            <a:off x="548640" y="3703320"/>
            <a:ext cx="4663440" cy="2864685"/>
          </a:xfrm>
          <a:prstGeom prst="rect">
            <a:avLst/>
          </a:prstGeom>
        </p:spPr>
      </p:pic>
      <p:sp>
        <p:nvSpPr>
          <p:cNvPr id="8" name="base rate card"/>
          <p:cNvSpPr/>
          <p:nvPr/>
        </p:nvSpPr>
        <p:spPr>
          <a:xfrm>
            <a:off x="6355080" y="1691640"/>
            <a:ext cx="5303520" cy="4434840"/>
          </a:xfrm>
          <a:prstGeom prst="roundRect">
            <a:avLst>
              <a:gd name="adj" fmla="val 2474"/>
            </a:avLst>
          </a:prstGeom>
          <a:solidFill>
            <a:srgbClr val="14131F"/>
          </a:solidFill>
          <a:ln w="9525">
            <a:solidFill>
              <a:srgbClr val="2A2840"/>
            </a:solidFill>
            <a:prstDash val="solid"/>
          </a:ln>
        </p:spPr>
      </p:sp>
      <p:sp>
        <p:nvSpPr>
          <p:cNvPr id="9" name="base rate tag"/>
          <p:cNvSpPr txBox="1"/>
          <p:nvPr/>
        </p:nvSpPr>
        <p:spPr>
          <a:xfrm>
            <a:off x="6629400" y="1874520"/>
            <a:ext cx="4754880" cy="320040"/>
          </a:xfrm>
          <a:prstGeom prst="rect">
            <a:avLst/>
          </a:prstGeom>
          <a:noFill/>
          <a:ln/>
        </p:spPr>
        <p:txBody>
          <a:bodyPr wrap="square" lIns="0" tIns="0" rIns="0" bIns="0" rtlCol="0" anchor="ctr"/>
          <a:lstStyle/>
          <a:p>
            <a:pPr indent="0" marL="0">
              <a:buNone/>
            </a:pPr>
            <a:r>
              <a:rPr lang="en-US" sz="1300" b="1" spc="200" kern="0" dirty="0">
                <a:solidFill>
                  <a:srgbClr val="FF8A3D"/>
                </a:solidFill>
              </a:rPr>
              <a:t>THE BASE-RATE TRAP</a:t>
            </a:r>
            <a:endParaRPr lang="en-US" sz="1300" dirty="0"/>
          </a:p>
        </p:txBody>
      </p:sp>
      <p:sp>
        <p:nvSpPr>
          <p:cNvPr id="10" name="medical question"/>
          <p:cNvSpPr txBox="1"/>
          <p:nvPr/>
        </p:nvSpPr>
        <p:spPr>
          <a:xfrm>
            <a:off x="6629400" y="2286000"/>
            <a:ext cx="4754880" cy="109728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A test that is 99% sensitive, 5% false alarms, for a disease 1 in 100 people have. You test positive. Chance you're sick?</a:t>
            </a:r>
            <a:endParaRPr lang="en-US" sz="1600" dirty="0"/>
          </a:p>
        </p:txBody>
      </p:sp>
      <p:sp>
        <p:nvSpPr>
          <p:cNvPr id="11" name="medical answer"/>
          <p:cNvSpPr txBox="1"/>
          <p:nvPr/>
        </p:nvSpPr>
        <p:spPr>
          <a:xfrm>
            <a:off x="6629400" y="3429000"/>
            <a:ext cx="4754880" cy="1005840"/>
          </a:xfrm>
          <a:prstGeom prst="rect">
            <a:avLst/>
          </a:prstGeom>
          <a:noFill/>
          <a:ln/>
        </p:spPr>
        <p:txBody>
          <a:bodyPr wrap="square" lIns="0" tIns="0" rIns="0" bIns="0" rtlCol="0" anchor="ctr"/>
          <a:lstStyle/>
          <a:p>
            <a:pPr indent="0" marL="0">
              <a:buNone/>
            </a:pPr>
            <a:r>
              <a:rPr lang="en-US" sz="6600" b="1" dirty="0">
                <a:solidFill>
                  <a:srgbClr val="FF2BD6"/>
                </a:solidFill>
                <a:latin typeface="Arial" pitchFamily="34" charset="0"/>
                <a:ea typeface="Arial" pitchFamily="34" charset="-122"/>
                <a:cs typeface="Arial" pitchFamily="34" charset="-120"/>
              </a:rPr>
              <a:t>≈ 17%</a:t>
            </a:r>
            <a:endParaRPr lang="en-US" sz="6600" dirty="0"/>
          </a:p>
        </p:txBody>
      </p:sp>
      <p:sp>
        <p:nvSpPr>
          <p:cNvPr id="12" name="base rate explanation"/>
          <p:cNvSpPr txBox="1"/>
          <p:nvPr/>
        </p:nvSpPr>
        <p:spPr>
          <a:xfrm>
            <a:off x="6629400" y="4526280"/>
            <a:ext cx="4754880" cy="146304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Out of 1,000 people: 10 real positives vs ~50 false ones. When the bad thing is rare, most alarms are false. That's why a filter combines every word.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06 · BAYESIAN UPDATING · NAIVE BAYES</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Reading, word by word</a:t>
            </a:r>
            <a:endParaRPr lang="en-US" sz="3600" dirty="0"/>
          </a:p>
        </p:txBody>
      </p:sp>
      <p:pic>
        <p:nvPicPr>
          <p:cNvPr id="5" name="R-rendered film frame" descr="P(spam) after each word for one spam and one ham message">    </p:cNvPr>
          <p:cNvPicPr>
            <a:picLocks noChangeAspect="1"/>
          </p:cNvPicPr>
          <p:nvPr/>
        </p:nvPicPr>
        <p:blipFill>
          <a:blip r:embed="rId1"/>
          <a:stretch>
            <a:fillRect/>
          </a:stretch>
        </p:blipFill>
        <p:spPr>
          <a:xfrm>
            <a:off x="548640" y="1645920"/>
            <a:ext cx="5971032" cy="4160520"/>
          </a:xfrm>
          <a:prstGeom prst="rect">
            <a:avLst/>
          </a:prstGeom>
        </p:spPr>
      </p:pic>
      <p:sp>
        <p:nvSpPr>
          <p:cNvPr id="6" name="step 01"/>
          <p:cNvSpPr/>
          <p:nvPr/>
        </p:nvSpPr>
        <p:spPr>
          <a:xfrm>
            <a:off x="7772400" y="1645920"/>
            <a:ext cx="3886200" cy="914400"/>
          </a:xfrm>
          <a:prstGeom prst="roundRect">
            <a:avLst>
              <a:gd name="adj" fmla="val 12000"/>
            </a:avLst>
          </a:prstGeom>
          <a:solidFill>
            <a:srgbClr val="14131F"/>
          </a:solidFill>
          <a:ln w="9525">
            <a:solidFill>
              <a:srgbClr val="2A2840"/>
            </a:solidFill>
            <a:prstDash val="solid"/>
          </a:ln>
        </p:spPr>
      </p:sp>
      <p:sp>
        <p:nvSpPr>
          <p:cNvPr id="7" name="step number 01"/>
          <p:cNvSpPr txBox="1"/>
          <p:nvPr/>
        </p:nvSpPr>
        <p:spPr>
          <a:xfrm>
            <a:off x="7955280" y="1755648"/>
            <a:ext cx="548640" cy="365760"/>
          </a:xfrm>
          <a:prstGeom prst="rect">
            <a:avLst/>
          </a:prstGeom>
          <a:noFill/>
          <a:ln/>
        </p:spPr>
        <p:txBody>
          <a:bodyPr wrap="square" lIns="0" tIns="0" rIns="0" bIns="0" rtlCol="0" anchor="ctr"/>
          <a:lstStyle/>
          <a:p>
            <a:pPr indent="0" marL="0">
              <a:buNone/>
            </a:pPr>
            <a:r>
              <a:rPr lang="en-US" sz="1800" b="1" dirty="0">
                <a:solidFill>
                  <a:srgbClr val="2DE2FF"/>
                </a:solidFill>
              </a:rPr>
              <a:t>01</a:t>
            </a:r>
            <a:endParaRPr lang="en-US" sz="1800" dirty="0"/>
          </a:p>
        </p:txBody>
      </p:sp>
      <p:sp>
        <p:nvSpPr>
          <p:cNvPr id="8" name="step title 01"/>
          <p:cNvSpPr txBox="1"/>
          <p:nvPr/>
        </p:nvSpPr>
        <p:spPr>
          <a:xfrm>
            <a:off x="8503920" y="1737360"/>
            <a:ext cx="3017520" cy="320040"/>
          </a:xfrm>
          <a:prstGeom prst="rect">
            <a:avLst/>
          </a:prstGeom>
          <a:noFill/>
          <a:ln/>
        </p:spPr>
        <p:txBody>
          <a:bodyPr wrap="square" lIns="0" tIns="0" rIns="0" bIns="0" rtlCol="0" anchor="ctr"/>
          <a:lstStyle/>
          <a:p>
            <a:pPr indent="0" marL="0">
              <a:buNone/>
            </a:pPr>
            <a:r>
              <a:rPr lang="en-US" sz="1500" b="1" dirty="0">
                <a:solidFill>
                  <a:schemeClr val="bg1"/>
                </a:solidFill>
              </a:rPr>
              <a:t>Prior</a:t>
            </a:r>
            <a:endParaRPr lang="en-US" sz="1500" dirty="0"/>
          </a:p>
        </p:txBody>
      </p:sp>
      <p:sp>
        <p:nvSpPr>
          <p:cNvPr id="9" name="step text 01"/>
          <p:cNvSpPr txBox="1"/>
          <p:nvPr/>
        </p:nvSpPr>
        <p:spPr>
          <a:xfrm>
            <a:off x="8503920" y="2057400"/>
            <a:ext cx="3063240" cy="457200"/>
          </a:xfrm>
          <a:prstGeom prst="rect">
            <a:avLst/>
          </a:prstGeom>
          <a:noFill/>
          <a:ln/>
        </p:spPr>
        <p:txBody>
          <a:bodyPr wrap="square" lIns="0" tIns="0" rIns="0" bIns="0" rtlCol="0" anchor="ctr"/>
          <a:lstStyle/>
          <a:p>
            <a:pPr indent="0" marL="0">
              <a:buNone/>
            </a:pPr>
            <a:r>
              <a:rPr lang="en-US" sz="1100" dirty="0">
                <a:solidFill>
                  <a:srgbClr val="8A8AA3"/>
                </a:solidFill>
              </a:rPr>
              <a:t>Start at the base rate, P(spam) = 13.6%</a:t>
            </a:r>
            <a:endParaRPr lang="en-US" sz="1100" dirty="0"/>
          </a:p>
        </p:txBody>
      </p:sp>
      <p:sp>
        <p:nvSpPr>
          <p:cNvPr id="10" name="step 02"/>
          <p:cNvSpPr/>
          <p:nvPr/>
        </p:nvSpPr>
        <p:spPr>
          <a:xfrm>
            <a:off x="7772400" y="2670048"/>
            <a:ext cx="3886200" cy="914400"/>
          </a:xfrm>
          <a:prstGeom prst="roundRect">
            <a:avLst>
              <a:gd name="adj" fmla="val 12000"/>
            </a:avLst>
          </a:prstGeom>
          <a:solidFill>
            <a:srgbClr val="14131F"/>
          </a:solidFill>
          <a:ln w="9525">
            <a:solidFill>
              <a:srgbClr val="2A2840"/>
            </a:solidFill>
            <a:prstDash val="solid"/>
          </a:ln>
        </p:spPr>
      </p:sp>
      <p:sp>
        <p:nvSpPr>
          <p:cNvPr id="11" name="step number 02"/>
          <p:cNvSpPr txBox="1"/>
          <p:nvPr/>
        </p:nvSpPr>
        <p:spPr>
          <a:xfrm>
            <a:off x="7955280" y="2779776"/>
            <a:ext cx="548640" cy="365760"/>
          </a:xfrm>
          <a:prstGeom prst="rect">
            <a:avLst/>
          </a:prstGeom>
          <a:noFill/>
          <a:ln/>
        </p:spPr>
        <p:txBody>
          <a:bodyPr wrap="square" lIns="0" tIns="0" rIns="0" bIns="0" rtlCol="0" anchor="ctr"/>
          <a:lstStyle/>
          <a:p>
            <a:pPr indent="0" marL="0">
              <a:buNone/>
            </a:pPr>
            <a:r>
              <a:rPr lang="en-US" sz="1800" b="1" dirty="0">
                <a:solidFill>
                  <a:srgbClr val="FF8A3D"/>
                </a:solidFill>
              </a:rPr>
              <a:t>02</a:t>
            </a:r>
            <a:endParaRPr lang="en-US" sz="1800" dirty="0"/>
          </a:p>
        </p:txBody>
      </p:sp>
      <p:sp>
        <p:nvSpPr>
          <p:cNvPr id="12" name="step title 02"/>
          <p:cNvSpPr txBox="1"/>
          <p:nvPr/>
        </p:nvSpPr>
        <p:spPr>
          <a:xfrm>
            <a:off x="8503920" y="2761488"/>
            <a:ext cx="3017520" cy="320040"/>
          </a:xfrm>
          <a:prstGeom prst="rect">
            <a:avLst/>
          </a:prstGeom>
          <a:noFill/>
          <a:ln/>
        </p:spPr>
        <p:txBody>
          <a:bodyPr wrap="square" lIns="0" tIns="0" rIns="0" bIns="0" rtlCol="0" anchor="ctr"/>
          <a:lstStyle/>
          <a:p>
            <a:pPr indent="0" marL="0">
              <a:buNone/>
            </a:pPr>
            <a:r>
              <a:rPr lang="en-US" sz="1500" b="1" dirty="0">
                <a:solidFill>
                  <a:schemeClr val="bg1"/>
                </a:solidFill>
              </a:rPr>
              <a:t>Likelihood</a:t>
            </a:r>
            <a:endParaRPr lang="en-US" sz="1500" dirty="0"/>
          </a:p>
        </p:txBody>
      </p:sp>
      <p:sp>
        <p:nvSpPr>
          <p:cNvPr id="13" name="step text 02"/>
          <p:cNvSpPr txBox="1"/>
          <p:nvPr/>
        </p:nvSpPr>
        <p:spPr>
          <a:xfrm>
            <a:off x="8503920" y="3081528"/>
            <a:ext cx="3063240" cy="457200"/>
          </a:xfrm>
          <a:prstGeom prst="rect">
            <a:avLst/>
          </a:prstGeom>
          <a:noFill/>
          <a:ln/>
        </p:spPr>
        <p:txBody>
          <a:bodyPr wrap="square" lIns="0" tIns="0" rIns="0" bIns="0" rtlCol="0" anchor="ctr"/>
          <a:lstStyle/>
          <a:p>
            <a:pPr indent="0" marL="0">
              <a:buNone/>
            </a:pPr>
            <a:r>
              <a:rPr lang="en-US" sz="1100" dirty="0">
                <a:solidFill>
                  <a:srgbClr val="8A8AA3"/>
                </a:solidFill>
              </a:rPr>
              <a:t>Each word multiplies the odds by P(word|spam) / P(word|ham)</a:t>
            </a:r>
            <a:endParaRPr lang="en-US" sz="1100" dirty="0"/>
          </a:p>
        </p:txBody>
      </p:sp>
      <p:sp>
        <p:nvSpPr>
          <p:cNvPr id="14" name="step 03"/>
          <p:cNvSpPr/>
          <p:nvPr/>
        </p:nvSpPr>
        <p:spPr>
          <a:xfrm>
            <a:off x="7772400" y="3694176"/>
            <a:ext cx="3886200" cy="914400"/>
          </a:xfrm>
          <a:prstGeom prst="roundRect">
            <a:avLst>
              <a:gd name="adj" fmla="val 12000"/>
            </a:avLst>
          </a:prstGeom>
          <a:solidFill>
            <a:srgbClr val="14131F"/>
          </a:solidFill>
          <a:ln w="9525">
            <a:solidFill>
              <a:srgbClr val="2A2840"/>
            </a:solidFill>
            <a:prstDash val="solid"/>
          </a:ln>
        </p:spPr>
      </p:sp>
      <p:sp>
        <p:nvSpPr>
          <p:cNvPr id="15" name="step number 03"/>
          <p:cNvSpPr txBox="1"/>
          <p:nvPr/>
        </p:nvSpPr>
        <p:spPr>
          <a:xfrm>
            <a:off x="7955280" y="3803904"/>
            <a:ext cx="548640" cy="365760"/>
          </a:xfrm>
          <a:prstGeom prst="rect">
            <a:avLst/>
          </a:prstGeom>
          <a:noFill/>
          <a:ln/>
        </p:spPr>
        <p:txBody>
          <a:bodyPr wrap="square" lIns="0" tIns="0" rIns="0" bIns="0" rtlCol="0" anchor="ctr"/>
          <a:lstStyle/>
          <a:p>
            <a:pPr indent="0" marL="0">
              <a:buNone/>
            </a:pPr>
            <a:r>
              <a:rPr lang="en-US" sz="1800" b="1" dirty="0">
                <a:solidFill>
                  <a:srgbClr val="FF2BD6"/>
                </a:solidFill>
              </a:rPr>
              <a:t>03</a:t>
            </a:r>
            <a:endParaRPr lang="en-US" sz="1800" dirty="0"/>
          </a:p>
        </p:txBody>
      </p:sp>
      <p:sp>
        <p:nvSpPr>
          <p:cNvPr id="16" name="step title 03"/>
          <p:cNvSpPr txBox="1"/>
          <p:nvPr/>
        </p:nvSpPr>
        <p:spPr>
          <a:xfrm>
            <a:off x="8503920" y="3785616"/>
            <a:ext cx="3017520" cy="320040"/>
          </a:xfrm>
          <a:prstGeom prst="rect">
            <a:avLst/>
          </a:prstGeom>
          <a:noFill/>
          <a:ln/>
        </p:spPr>
        <p:txBody>
          <a:bodyPr wrap="square" lIns="0" tIns="0" rIns="0" bIns="0" rtlCol="0" anchor="ctr"/>
          <a:lstStyle/>
          <a:p>
            <a:pPr indent="0" marL="0">
              <a:buNone/>
            </a:pPr>
            <a:r>
              <a:rPr lang="en-US" sz="1500" b="1" dirty="0">
                <a:solidFill>
                  <a:schemeClr val="bg1"/>
                </a:solidFill>
              </a:rPr>
              <a:t>Log-odds</a:t>
            </a:r>
            <a:endParaRPr lang="en-US" sz="1500" dirty="0"/>
          </a:p>
        </p:txBody>
      </p:sp>
      <p:sp>
        <p:nvSpPr>
          <p:cNvPr id="17" name="step text 03"/>
          <p:cNvSpPr txBox="1"/>
          <p:nvPr/>
        </p:nvSpPr>
        <p:spPr>
          <a:xfrm>
            <a:off x="8503920" y="4105656"/>
            <a:ext cx="3063240" cy="457200"/>
          </a:xfrm>
          <a:prstGeom prst="rect">
            <a:avLst/>
          </a:prstGeom>
          <a:noFill/>
          <a:ln/>
        </p:spPr>
        <p:txBody>
          <a:bodyPr wrap="square" lIns="0" tIns="0" rIns="0" bIns="0" rtlCol="0" anchor="ctr"/>
          <a:lstStyle/>
          <a:p>
            <a:pPr indent="0" marL="0">
              <a:buNone/>
            </a:pPr>
            <a:r>
              <a:rPr lang="en-US" sz="1100" dirty="0">
                <a:solidFill>
                  <a:srgbClr val="8A8AA3"/>
                </a:solidFill>
              </a:rPr>
              <a:t>Add log likelihood ratios instead of multiplying tiny numbers</a:t>
            </a:r>
            <a:endParaRPr lang="en-US" sz="1100" dirty="0"/>
          </a:p>
        </p:txBody>
      </p:sp>
      <p:sp>
        <p:nvSpPr>
          <p:cNvPr id="18" name="step 04"/>
          <p:cNvSpPr/>
          <p:nvPr/>
        </p:nvSpPr>
        <p:spPr>
          <a:xfrm>
            <a:off x="7772400" y="4718304"/>
            <a:ext cx="3886200" cy="914400"/>
          </a:xfrm>
          <a:prstGeom prst="roundRect">
            <a:avLst>
              <a:gd name="adj" fmla="val 12000"/>
            </a:avLst>
          </a:prstGeom>
          <a:solidFill>
            <a:srgbClr val="14131F"/>
          </a:solidFill>
          <a:ln w="9525">
            <a:solidFill>
              <a:srgbClr val="2A2840"/>
            </a:solidFill>
            <a:prstDash val="solid"/>
          </a:ln>
        </p:spPr>
      </p:sp>
      <p:sp>
        <p:nvSpPr>
          <p:cNvPr id="19" name="step number 04"/>
          <p:cNvSpPr txBox="1"/>
          <p:nvPr/>
        </p:nvSpPr>
        <p:spPr>
          <a:xfrm>
            <a:off x="7955280" y="4828032"/>
            <a:ext cx="548640" cy="365760"/>
          </a:xfrm>
          <a:prstGeom prst="rect">
            <a:avLst/>
          </a:prstGeom>
          <a:noFill/>
          <a:ln/>
        </p:spPr>
        <p:txBody>
          <a:bodyPr wrap="square" lIns="0" tIns="0" rIns="0" bIns="0" rtlCol="0" anchor="ctr"/>
          <a:lstStyle/>
          <a:p>
            <a:pPr indent="0" marL="0">
              <a:buNone/>
            </a:pPr>
            <a:r>
              <a:rPr lang="en-US" sz="1800" b="1" dirty="0">
                <a:solidFill>
                  <a:srgbClr val="C6FF3D"/>
                </a:solidFill>
              </a:rPr>
              <a:t>04</a:t>
            </a:r>
            <a:endParaRPr lang="en-US" sz="1800" dirty="0"/>
          </a:p>
        </p:txBody>
      </p:sp>
      <p:sp>
        <p:nvSpPr>
          <p:cNvPr id="20" name="step title 04"/>
          <p:cNvSpPr txBox="1"/>
          <p:nvPr/>
        </p:nvSpPr>
        <p:spPr>
          <a:xfrm>
            <a:off x="8503920" y="4809744"/>
            <a:ext cx="3017520" cy="320040"/>
          </a:xfrm>
          <a:prstGeom prst="rect">
            <a:avLst/>
          </a:prstGeom>
          <a:noFill/>
          <a:ln/>
        </p:spPr>
        <p:txBody>
          <a:bodyPr wrap="square" lIns="0" tIns="0" rIns="0" bIns="0" rtlCol="0" anchor="ctr"/>
          <a:lstStyle/>
          <a:p>
            <a:pPr indent="0" marL="0">
              <a:buNone/>
            </a:pPr>
            <a:r>
              <a:rPr lang="en-US" sz="1500" b="1" dirty="0">
                <a:solidFill>
                  <a:schemeClr val="bg1"/>
                </a:solidFill>
              </a:rPr>
              <a:t>Verdict</a:t>
            </a:r>
            <a:endParaRPr lang="en-US" sz="1500" dirty="0"/>
          </a:p>
        </p:txBody>
      </p:sp>
      <p:sp>
        <p:nvSpPr>
          <p:cNvPr id="21" name="step text 04"/>
          <p:cNvSpPr txBox="1"/>
          <p:nvPr/>
        </p:nvSpPr>
        <p:spPr>
          <a:xfrm>
            <a:off x="8503920" y="5129784"/>
            <a:ext cx="3063240" cy="457200"/>
          </a:xfrm>
          <a:prstGeom prst="rect">
            <a:avLst/>
          </a:prstGeom>
          <a:noFill/>
          <a:ln/>
        </p:spPr>
        <p:txBody>
          <a:bodyPr wrap="square" lIns="0" tIns="0" rIns="0" bIns="0" rtlCol="0" anchor="ctr"/>
          <a:lstStyle/>
          <a:p>
            <a:pPr indent="0" marL="0">
              <a:buNone/>
            </a:pPr>
            <a:r>
              <a:rPr lang="en-US" sz="1100" dirty="0">
                <a:solidFill>
                  <a:srgbClr val="8A8AA3"/>
                </a:solidFill>
              </a:rPr>
              <a:t>Spam ends at ~100%, ham at ~0%, on messages the model never saw</a:t>
            </a:r>
            <a:endParaRPr lang="en-US" sz="1100" dirty="0"/>
          </a:p>
        </p:txBody>
      </p:sp>
      <p:sp>
        <p:nvSpPr>
          <p:cNvPr id="22" name="Naive Bayes formula"/>
          <p:cNvSpPr txBox="1"/>
          <p:nvPr/>
        </p:nvSpPr>
        <p:spPr>
          <a:xfrm>
            <a:off x="548640" y="5943600"/>
            <a:ext cx="11064240" cy="41148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log odds(spam | words) = log prior odds + Σ log [ P(wᵢ | spam) / P(wᵢ | ham) ]</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07 · POISSON DISTRIBUTION · GOODNESS OF FIT</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Spammers are predictable!</a:t>
            </a:r>
            <a:endParaRPr lang="en-US" sz="3600" dirty="0"/>
          </a:p>
        </p:txBody>
      </p:sp>
      <p:pic>
        <p:nvPicPr>
          <p:cNvPr id="5" name="Exclamation marks per spam message vs Poisson" descr="Exclamation marks per spam message vs Poisson">    </p:cNvPr>
          <p:cNvPicPr>
            <a:picLocks noChangeAspect="1"/>
          </p:cNvPicPr>
          <p:nvPr/>
        </p:nvPicPr>
        <p:blipFill>
          <a:blip r:embed="rId1"/>
          <a:stretch>
            <a:fillRect/>
          </a:stretch>
        </p:blipFill>
        <p:spPr>
          <a:xfrm>
            <a:off x="548640" y="1691640"/>
            <a:ext cx="6492240" cy="3988090"/>
          </a:xfrm>
          <a:prstGeom prst="rect">
            <a:avLst/>
          </a:prstGeom>
        </p:spPr>
      </p:pic>
      <p:sp>
        <p:nvSpPr>
          <p:cNvPr id="6" name="stat spam λ̂ ('!' per msg)"/>
          <p:cNvSpPr/>
          <p:nvPr/>
        </p:nvSpPr>
        <p:spPr>
          <a:xfrm>
            <a:off x="7315200" y="1691640"/>
            <a:ext cx="2103120" cy="1234440"/>
          </a:xfrm>
          <a:prstGeom prst="roundRect">
            <a:avLst>
              <a:gd name="adj" fmla="val 8889"/>
            </a:avLst>
          </a:prstGeom>
          <a:solidFill>
            <a:srgbClr val="14131F"/>
          </a:solidFill>
          <a:ln w="9525">
            <a:solidFill>
              <a:srgbClr val="2A2840"/>
            </a:solidFill>
            <a:prstDash val="solid"/>
          </a:ln>
        </p:spPr>
      </p:sp>
      <p:sp>
        <p:nvSpPr>
          <p:cNvPr id="7" name="value spam λ̂ (&amp;apos;!&amp;apos; per msg)"/>
          <p:cNvSpPr txBox="1"/>
          <p:nvPr/>
        </p:nvSpPr>
        <p:spPr>
          <a:xfrm>
            <a:off x="7498080" y="1801368"/>
            <a:ext cx="1737360" cy="685800"/>
          </a:xfrm>
          <a:prstGeom prst="rect">
            <a:avLst/>
          </a:prstGeom>
          <a:noFill/>
          <a:ln/>
        </p:spPr>
        <p:txBody>
          <a:bodyPr wrap="square" lIns="0" tIns="0" rIns="0" bIns="0" rtlCol="0" anchor="ctr"/>
          <a:lstStyle/>
          <a:p>
            <a:pPr indent="0" marL="0">
              <a:buNone/>
            </a:pPr>
            <a:r>
              <a:rPr lang="en-US" sz="3400" b="1" dirty="0">
                <a:solidFill>
                  <a:srgbClr val="FF2BD6"/>
                </a:solidFill>
                <a:latin typeface="Arial" pitchFamily="34" charset="0"/>
                <a:ea typeface="Arial" pitchFamily="34" charset="-122"/>
                <a:cs typeface="Arial" pitchFamily="34" charset="-120"/>
              </a:rPr>
              <a:t>0.73</a:t>
            </a:r>
            <a:endParaRPr lang="en-US" sz="3400" dirty="0"/>
          </a:p>
        </p:txBody>
      </p:sp>
      <p:sp>
        <p:nvSpPr>
          <p:cNvPr id="8" name="label spam λ̂ (&amp;apos;!&amp;apos; per msg)"/>
          <p:cNvSpPr txBox="1"/>
          <p:nvPr/>
        </p:nvSpPr>
        <p:spPr>
          <a:xfrm>
            <a:off x="7498080" y="2496312"/>
            <a:ext cx="1737360" cy="320040"/>
          </a:xfrm>
          <a:prstGeom prst="rect">
            <a:avLst/>
          </a:prstGeom>
          <a:noFill/>
          <a:ln/>
        </p:spPr>
        <p:txBody>
          <a:bodyPr wrap="square" lIns="0" tIns="0" rIns="0" bIns="0" rtlCol="0" anchor="ctr"/>
          <a:lstStyle/>
          <a:p>
            <a:pPr indent="0" marL="0">
              <a:buNone/>
            </a:pPr>
            <a:r>
              <a:rPr lang="en-US" sz="1200" dirty="0">
                <a:solidFill>
                  <a:srgbClr val="8A8AA3"/>
                </a:solidFill>
              </a:rPr>
              <a:t>spam λ̂ ('!' per msg)</a:t>
            </a:r>
            <a:endParaRPr lang="en-US" sz="1200" dirty="0"/>
          </a:p>
        </p:txBody>
      </p:sp>
      <p:sp>
        <p:nvSpPr>
          <p:cNvPr id="9" name="stat ham λ̂ ('!' per msg)"/>
          <p:cNvSpPr/>
          <p:nvPr/>
        </p:nvSpPr>
        <p:spPr>
          <a:xfrm>
            <a:off x="9555480" y="1691640"/>
            <a:ext cx="2103120" cy="1234440"/>
          </a:xfrm>
          <a:prstGeom prst="roundRect">
            <a:avLst>
              <a:gd name="adj" fmla="val 8889"/>
            </a:avLst>
          </a:prstGeom>
          <a:solidFill>
            <a:srgbClr val="14131F"/>
          </a:solidFill>
          <a:ln w="9525">
            <a:solidFill>
              <a:srgbClr val="2A2840"/>
            </a:solidFill>
            <a:prstDash val="solid"/>
          </a:ln>
        </p:spPr>
      </p:sp>
      <p:sp>
        <p:nvSpPr>
          <p:cNvPr id="10" name="value ham λ̂ (&amp;apos;!&amp;apos; per msg)"/>
          <p:cNvSpPr txBox="1"/>
          <p:nvPr/>
        </p:nvSpPr>
        <p:spPr>
          <a:xfrm>
            <a:off x="9738360" y="1801368"/>
            <a:ext cx="1737360" cy="685800"/>
          </a:xfrm>
          <a:prstGeom prst="rect">
            <a:avLst/>
          </a:prstGeom>
          <a:noFill/>
          <a:ln/>
        </p:spPr>
        <p:txBody>
          <a:bodyPr wrap="square" lIns="0" tIns="0" rIns="0" bIns="0" rtlCol="0" anchor="ctr"/>
          <a:lstStyle/>
          <a:p>
            <a:pPr indent="0" marL="0">
              <a:buNone/>
            </a:pPr>
            <a:r>
              <a:rPr lang="en-US" sz="3400" b="1" dirty="0">
                <a:solidFill>
                  <a:srgbClr val="2DE2FF"/>
                </a:solidFill>
                <a:latin typeface="Arial" pitchFamily="34" charset="0"/>
                <a:ea typeface="Arial" pitchFamily="34" charset="-122"/>
                <a:cs typeface="Arial" pitchFamily="34" charset="-120"/>
              </a:rPr>
              <a:t>0.18</a:t>
            </a:r>
            <a:endParaRPr lang="en-US" sz="3400" dirty="0"/>
          </a:p>
        </p:txBody>
      </p:sp>
      <p:sp>
        <p:nvSpPr>
          <p:cNvPr id="11" name="label ham λ̂ (&amp;apos;!&amp;apos; per msg)"/>
          <p:cNvSpPr txBox="1"/>
          <p:nvPr/>
        </p:nvSpPr>
        <p:spPr>
          <a:xfrm>
            <a:off x="9738360" y="2496312"/>
            <a:ext cx="1737360" cy="320040"/>
          </a:xfrm>
          <a:prstGeom prst="rect">
            <a:avLst/>
          </a:prstGeom>
          <a:noFill/>
          <a:ln/>
        </p:spPr>
        <p:txBody>
          <a:bodyPr wrap="square" lIns="0" tIns="0" rIns="0" bIns="0" rtlCol="0" anchor="ctr"/>
          <a:lstStyle/>
          <a:p>
            <a:pPr indent="0" marL="0">
              <a:buNone/>
            </a:pPr>
            <a:r>
              <a:rPr lang="en-US" sz="1200" dirty="0">
                <a:solidFill>
                  <a:srgbClr val="8A8AA3"/>
                </a:solidFill>
              </a:rPr>
              <a:t>ham λ̂ ('!' per msg)</a:t>
            </a:r>
            <a:endParaRPr lang="en-US" sz="1200" dirty="0"/>
          </a:p>
        </p:txBody>
      </p:sp>
      <p:sp>
        <p:nvSpPr>
          <p:cNvPr id="12" name="Poisson verdict card"/>
          <p:cNvSpPr/>
          <p:nvPr/>
        </p:nvSpPr>
        <p:spPr>
          <a:xfrm>
            <a:off x="7315200" y="3108960"/>
            <a:ext cx="4343400" cy="2743200"/>
          </a:xfrm>
          <a:prstGeom prst="roundRect">
            <a:avLst>
              <a:gd name="adj" fmla="val 4000"/>
            </a:avLst>
          </a:prstGeom>
          <a:solidFill>
            <a:srgbClr val="14131F"/>
          </a:solidFill>
          <a:ln w="9525">
            <a:solidFill>
              <a:srgbClr val="2A2840"/>
            </a:solidFill>
            <a:prstDash val="solid"/>
          </a:ln>
        </p:spPr>
      </p:sp>
      <p:sp>
        <p:nvSpPr>
          <p:cNvPr id="13" name="Poisson verdict"/>
          <p:cNvSpPr txBox="1"/>
          <p:nvPr/>
        </p:nvSpPr>
        <p:spPr>
          <a:xfrm>
            <a:off x="7543800" y="3291840"/>
            <a:ext cx="3931920" cy="24688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Spam fits Poisson: p = 0.059</a:t>
            </a:r>
            <a:endParaRPr lang="en-US" sz="1500" dirty="0"/>
          </a:p>
          <a:p>
            <a:pPr indent="0" marL="0">
              <a:spcAft>
                <a:spcPts val="600"/>
              </a:spcAft>
              <a:buNone/>
            </a:pPr>
            <a:r>
              <a:rPr lang="en-US" sz="1500" dirty="0">
                <a:solidFill>
                  <a:schemeClr val="bg1"/>
                </a:solidFill>
              </a:rPr>
              <a:t>Spammers use '!' at a steady, template-like rate.</a:t>
            </a:r>
            <a:endParaRPr lang="en-US" sz="1500" dirty="0"/>
          </a:p>
          <a:p>
            <a:pPr indent="0" marL="0">
              <a:spcAft>
                <a:spcPts val="600"/>
              </a:spcAft>
              <a:buNone/>
            </a:pPr>
            <a:r>
              <a:rPr lang="en-US" sz="1500" b="1" dirty="0">
                <a:solidFill>
                  <a:schemeClr val="accent2"/>
                </a:solidFill>
              </a:rPr>
              <a:t>Ham doesn't: variance ≈ 2.1× the mean</a:t>
            </a:r>
            <a:endParaRPr lang="en-US" sz="1500" dirty="0"/>
          </a:p>
          <a:p>
            <a:pPr indent="0" marL="0">
              <a:spcAft>
                <a:spcPts val="600"/>
              </a:spcAft>
              <a:buNone/>
            </a:pPr>
            <a:r>
              <a:rPr lang="en-US" sz="1500" dirty="0">
                <a:solidFill>
                  <a:schemeClr val="bg1"/>
                </a:solidFill>
              </a:rPr>
              <a:t>Most people never type '!', a few type '!!!!!'. Humans are bursty.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08 · Χ² TEST OF INDEPENDENCE · PERMUTATION TEST</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Could it be pure chance?</a:t>
            </a:r>
            <a:endParaRPr lang="en-US" sz="3600" dirty="0"/>
          </a:p>
        </p:txBody>
      </p:sp>
      <p:graphicFrame>
        <p:nvGraphicFramePr>
          <p:cNvPr id="9" name="contingency table"/>
          <p:cNvGraphicFramePr>
            <a:graphicFrameLocks noGrp="1"/>
          </p:cNvGraphicFramePr>
          <p:nvPr>
            <p:extLst>
              <p:ext uri="{D42A27DB-BD31-4B8C-83A1-F6EECF244321}">
                <p14:modId xmlns:p14="http://schemas.microsoft.com/office/powerpoint/2010/main" val="1579011935"/>
              </p:ext>
            </p:extLst>
          </p:nvPr>
        </p:nvGraphicFramePr>
        <p:xfrm>
          <a:off x="548640" y="1691640"/>
          <a:ext cx="5303520" cy="914400"/>
        </p:xfrm>
        <a:graphic>
          <a:graphicData uri="http://schemas.openxmlformats.org/drawingml/2006/table">
            <a:tbl>
              <a:tblPr/>
              <a:tblGrid>
                <a:gridCol w="2560320"/>
                <a:gridCol w="1371600"/>
                <a:gridCol w="1371600"/>
              </a:tblGrid>
              <a:tr h="438912">
                <a:tc>
                  <a:txBody>
                    <a:bodyPr/>
                    <a:lstStyle/>
                    <a:p>
                      <a:pPr indent="0" marL="0">
                        <a:buNone/>
                      </a:pPr>
                      <a:r>
                        <a:rPr lang="en-US" sz="1600" b="1" dirty="0">
                          <a:solidFill>
                            <a:srgbClr val="C6FF3D"/>
                          </a:solidFill>
                        </a:rPr>
                        <a:t>clue</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b="1" dirty="0">
                          <a:solidFill>
                            <a:srgbClr val="C6FF3D"/>
                          </a:solidFill>
                        </a:rPr>
                        <a:t>ham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b="1" dirty="0">
                          <a:solidFill>
                            <a:srgbClr val="C6FF3D"/>
                          </a:solidFill>
                        </a:rPr>
                        <a:t>spam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438912">
                <a:tc>
                  <a:txBody>
                    <a:bodyPr/>
                    <a:lstStyle/>
                    <a:p>
                      <a:pPr indent="0" marL="0">
                        <a:buNone/>
                      </a:pPr>
                      <a:r>
                        <a:rPr lang="en-US" sz="1600" dirty="0">
                          <a:solidFill>
                            <a:srgbClr val="ECEBF5"/>
                          </a:solidFill>
                        </a:rPr>
                        <a:t>phone number</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2DE2FF"/>
                          </a:solidFill>
                        </a:rPr>
                        <a:t>3</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FF2BD6"/>
                          </a:solidFill>
                        </a:rPr>
                        <a:t>585</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438912">
                <a:tc>
                  <a:txBody>
                    <a:bodyPr/>
                    <a:lstStyle/>
                    <a:p>
                      <a:pPr indent="0" marL="0">
                        <a:buNone/>
                      </a:pPr>
                      <a:r>
                        <a:rPr lang="en-US" sz="1600" dirty="0">
                          <a:solidFill>
                            <a:srgbClr val="ECEBF5"/>
                          </a:solidFill>
                        </a:rPr>
                        <a:t>money sign</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2DE2FF"/>
                          </a:solidFill>
                        </a:rPr>
                        <a:t>19</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FF2BD6"/>
                          </a:solidFill>
                        </a:rPr>
                        <a:t>25</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438912">
                <a:tc>
                  <a:txBody>
                    <a:bodyPr/>
                    <a:lstStyle/>
                    <a:p>
                      <a:pPr indent="0" marL="0">
                        <a:buNone/>
                      </a:pPr>
                      <a:r>
                        <a:rPr lang="en-US" sz="1600" dirty="0">
                          <a:solidFill>
                            <a:srgbClr val="ECEBF5"/>
                          </a:solidFill>
                        </a:rPr>
                        <a:t>web link</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2DE2FF"/>
                          </a:solidFill>
                        </a:rPr>
                        <a:t>16</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FF2BD6"/>
                          </a:solidFill>
                        </a:rPr>
                        <a:t>33</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438912">
                <a:tc>
                  <a:txBody>
                    <a:bodyPr/>
                    <a:lstStyle/>
                    <a:p>
                      <a:pPr indent="0" marL="0">
                        <a:buNone/>
                      </a:pPr>
                      <a:r>
                        <a:rPr lang="en-US" sz="1600" dirty="0">
                          <a:solidFill>
                            <a:srgbClr val="ECEBF5"/>
                          </a:solidFill>
                        </a:rPr>
                        <a:t>plain text</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2DE2FF"/>
                          </a:solidFill>
                        </a:rPr>
                        <a:t>4789</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r" indent="0" marL="0">
                        <a:buNone/>
                      </a:pPr>
                      <a:r>
                        <a:rPr lang="en-US" sz="1600" dirty="0">
                          <a:solidFill>
                            <a:srgbClr val="FF2BD6"/>
                          </a:solidFill>
                        </a:rPr>
                        <a:t>104</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bl>
          </a:graphicData>
        </a:graphic>
      </p:graphicFrame>
      <p:sp>
        <p:nvSpPr>
          <p:cNvPr id="6" name="table takeaway"/>
          <p:cNvSpPr txBox="1"/>
          <p:nvPr/>
        </p:nvSpPr>
        <p:spPr>
          <a:xfrm>
            <a:off x="548640" y="4023360"/>
            <a:ext cx="5303520" cy="36576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585 of 588 messages with a phone number are spam.</a:t>
            </a:r>
            <a:endParaRPr lang="en-US" sz="1500" dirty="0"/>
          </a:p>
        </p:txBody>
      </p:sp>
      <p:sp>
        <p:nvSpPr>
          <p:cNvPr id="7" name="stat observed χ² (df 3)"/>
          <p:cNvSpPr/>
          <p:nvPr/>
        </p:nvSpPr>
        <p:spPr>
          <a:xfrm>
            <a:off x="548640" y="4526280"/>
            <a:ext cx="2560320" cy="1234440"/>
          </a:xfrm>
          <a:prstGeom prst="roundRect">
            <a:avLst>
              <a:gd name="adj" fmla="val 8889"/>
            </a:avLst>
          </a:prstGeom>
          <a:solidFill>
            <a:srgbClr val="14131F"/>
          </a:solidFill>
          <a:ln w="9525">
            <a:solidFill>
              <a:srgbClr val="2A2840"/>
            </a:solidFill>
            <a:prstDash val="solid"/>
          </a:ln>
        </p:spPr>
      </p:sp>
      <p:sp>
        <p:nvSpPr>
          <p:cNvPr id="8" name="value observed χ² (df 3)"/>
          <p:cNvSpPr txBox="1"/>
          <p:nvPr/>
        </p:nvSpPr>
        <p:spPr>
          <a:xfrm>
            <a:off x="731520" y="4636008"/>
            <a:ext cx="2194560" cy="685800"/>
          </a:xfrm>
          <a:prstGeom prst="rect">
            <a:avLst/>
          </a:prstGeom>
          <a:noFill/>
          <a:ln/>
        </p:spPr>
        <p:txBody>
          <a:bodyPr wrap="square" lIns="0" tIns="0" rIns="0" bIns="0" rtlCol="0" anchor="ctr"/>
          <a:lstStyle/>
          <a:p>
            <a:pPr indent="0" marL="0">
              <a:buNone/>
            </a:pPr>
            <a:r>
              <a:rPr lang="en-US" sz="3600" b="1" dirty="0">
                <a:solidFill>
                  <a:srgbClr val="FF2BD6"/>
                </a:solidFill>
                <a:latin typeface="Arial" pitchFamily="34" charset="0"/>
                <a:ea typeface="Arial" pitchFamily="34" charset="-122"/>
                <a:cs typeface="Arial" pitchFamily="34" charset="-120"/>
              </a:rPr>
              <a:t>4,485</a:t>
            </a:r>
            <a:endParaRPr lang="en-US" sz="3600" dirty="0"/>
          </a:p>
        </p:txBody>
      </p:sp>
      <p:sp>
        <p:nvSpPr>
          <p:cNvPr id="9" name="label observed χ² (df 3)"/>
          <p:cNvSpPr txBox="1"/>
          <p:nvPr/>
        </p:nvSpPr>
        <p:spPr>
          <a:xfrm>
            <a:off x="731520" y="5330952"/>
            <a:ext cx="2194560" cy="320040"/>
          </a:xfrm>
          <a:prstGeom prst="rect">
            <a:avLst/>
          </a:prstGeom>
          <a:noFill/>
          <a:ln/>
        </p:spPr>
        <p:txBody>
          <a:bodyPr wrap="square" lIns="0" tIns="0" rIns="0" bIns="0" rtlCol="0" anchor="ctr"/>
          <a:lstStyle/>
          <a:p>
            <a:pPr indent="0" marL="0">
              <a:buNone/>
            </a:pPr>
            <a:r>
              <a:rPr lang="en-US" sz="1200" dirty="0">
                <a:solidFill>
                  <a:srgbClr val="8A8AA3"/>
                </a:solidFill>
              </a:rPr>
              <a:t>observed χ² (df 3)</a:t>
            </a:r>
            <a:endParaRPr lang="en-US" sz="1200" dirty="0"/>
          </a:p>
        </p:txBody>
      </p:sp>
      <p:sp>
        <p:nvSpPr>
          <p:cNvPr id="10" name="stat largest of 2,000 shuffles"/>
          <p:cNvSpPr/>
          <p:nvPr/>
        </p:nvSpPr>
        <p:spPr>
          <a:xfrm>
            <a:off x="3291840" y="4526280"/>
            <a:ext cx="2560320" cy="1234440"/>
          </a:xfrm>
          <a:prstGeom prst="roundRect">
            <a:avLst>
              <a:gd name="adj" fmla="val 8889"/>
            </a:avLst>
          </a:prstGeom>
          <a:solidFill>
            <a:srgbClr val="14131F"/>
          </a:solidFill>
          <a:ln w="9525">
            <a:solidFill>
              <a:srgbClr val="2A2840"/>
            </a:solidFill>
            <a:prstDash val="solid"/>
          </a:ln>
        </p:spPr>
      </p:sp>
      <p:sp>
        <p:nvSpPr>
          <p:cNvPr id="11" name="value largest of 2,000 shuffles"/>
          <p:cNvSpPr txBox="1"/>
          <p:nvPr/>
        </p:nvSpPr>
        <p:spPr>
          <a:xfrm>
            <a:off x="3474720" y="4636008"/>
            <a:ext cx="2194560" cy="685800"/>
          </a:xfrm>
          <a:prstGeom prst="rect">
            <a:avLst/>
          </a:prstGeom>
          <a:noFill/>
          <a:ln/>
        </p:spPr>
        <p:txBody>
          <a:bodyPr wrap="square" lIns="0" tIns="0" rIns="0" bIns="0" rtlCol="0" anchor="ctr"/>
          <a:lstStyle/>
          <a:p>
            <a:pPr indent="0" marL="0">
              <a:buNone/>
            </a:pPr>
            <a:r>
              <a:rPr lang="en-US" sz="3600" b="1" dirty="0">
                <a:solidFill>
                  <a:srgbClr val="9B7BFF"/>
                </a:solidFill>
                <a:latin typeface="Arial" pitchFamily="34" charset="0"/>
                <a:ea typeface="Arial" pitchFamily="34" charset="-122"/>
                <a:cs typeface="Arial" pitchFamily="34" charset="-120"/>
              </a:rPr>
              <a:t>18.2</a:t>
            </a:r>
            <a:endParaRPr lang="en-US" sz="3600" dirty="0"/>
          </a:p>
        </p:txBody>
      </p:sp>
      <p:sp>
        <p:nvSpPr>
          <p:cNvPr id="12" name="label largest of 2,000 shuffles"/>
          <p:cNvSpPr txBox="1"/>
          <p:nvPr/>
        </p:nvSpPr>
        <p:spPr>
          <a:xfrm>
            <a:off x="3474720" y="5330952"/>
            <a:ext cx="2194560" cy="320040"/>
          </a:xfrm>
          <a:prstGeom prst="rect">
            <a:avLst/>
          </a:prstGeom>
          <a:noFill/>
          <a:ln/>
        </p:spPr>
        <p:txBody>
          <a:bodyPr wrap="square" lIns="0" tIns="0" rIns="0" bIns="0" rtlCol="0" anchor="ctr"/>
          <a:lstStyle/>
          <a:p>
            <a:pPr indent="0" marL="0">
              <a:buNone/>
            </a:pPr>
            <a:r>
              <a:rPr lang="en-US" sz="1200" dirty="0">
                <a:solidFill>
                  <a:srgbClr val="8A8AA3"/>
                </a:solidFill>
              </a:rPr>
              <a:t>largest of 2,000 shuffles</a:t>
            </a:r>
            <a:endParaRPr lang="en-US" sz="1200" dirty="0"/>
          </a:p>
        </p:txBody>
      </p:sp>
      <p:pic>
        <p:nvPicPr>
          <p:cNvPr id="13" name="Permutation null distribution of chi-square" descr="Permutation null distribution of chi-square">    </p:cNvPr>
          <p:cNvPicPr>
            <a:picLocks noChangeAspect="1"/>
          </p:cNvPicPr>
          <p:nvPr/>
        </p:nvPicPr>
        <p:blipFill>
          <a:blip r:embed="rId1"/>
          <a:stretch>
            <a:fillRect/>
          </a:stretch>
        </p:blipFill>
        <p:spPr>
          <a:xfrm>
            <a:off x="6172200" y="1691640"/>
            <a:ext cx="5486400" cy="3370217"/>
          </a:xfrm>
          <a:prstGeom prst="rect">
            <a:avLst/>
          </a:prstGeom>
        </p:spPr>
      </p:pic>
      <p:sp>
        <p:nvSpPr>
          <p:cNvPr id="14" name="chi-square verdict"/>
          <p:cNvSpPr txBox="1"/>
          <p:nvPr/>
        </p:nvSpPr>
        <p:spPr>
          <a:xfrm>
            <a:off x="6172200" y="5166360"/>
            <a:ext cx="5486400" cy="64008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Reject independence: p &lt; 2.2e-16, Cramér's V = 0.90 (very strong).</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09 · DISTANCE METRICS · DYNAMIC PROGRAMMING</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FR33 PR1ZE, w1nner!!</a:t>
            </a:r>
            <a:endParaRPr lang="en-US" sz="3600" dirty="0"/>
          </a:p>
        </p:txBody>
      </p:sp>
      <p:pic>
        <p:nvPicPr>
          <p:cNvPr id="5" name="Levenshtein distance between disguised and real spam words" descr="Levenshtein distance between disguised and real spam words">    </p:cNvPr>
          <p:cNvPicPr>
            <a:picLocks noChangeAspect="1"/>
          </p:cNvPicPr>
          <p:nvPr/>
        </p:nvPicPr>
        <p:blipFill>
          <a:blip r:embed="rId1"/>
          <a:stretch>
            <a:fillRect/>
          </a:stretch>
        </p:blipFill>
        <p:spPr>
          <a:xfrm>
            <a:off x="548640" y="1691640"/>
            <a:ext cx="6492240" cy="3988090"/>
          </a:xfrm>
          <a:prstGeom prst="rect">
            <a:avLst/>
          </a:prstGeom>
        </p:spPr>
      </p:pic>
      <p:sp>
        <p:nvSpPr>
          <p:cNvPr id="6" name="edit distance card"/>
          <p:cNvSpPr/>
          <p:nvPr/>
        </p:nvSpPr>
        <p:spPr>
          <a:xfrm>
            <a:off x="7315200" y="1691640"/>
            <a:ext cx="4343400" cy="4114800"/>
          </a:xfrm>
          <a:prstGeom prst="roundRect">
            <a:avLst>
              <a:gd name="adj" fmla="val 2667"/>
            </a:avLst>
          </a:prstGeom>
          <a:solidFill>
            <a:srgbClr val="14131F"/>
          </a:solidFill>
          <a:ln w="9525">
            <a:solidFill>
              <a:srgbClr val="2A2840"/>
            </a:solidFill>
            <a:prstDash val="solid"/>
          </a:ln>
        </p:spPr>
      </p:sp>
      <p:sp>
        <p:nvSpPr>
          <p:cNvPr id="7" name="edit distance explanation"/>
          <p:cNvSpPr txBox="1"/>
          <p:nvPr/>
        </p:nvSpPr>
        <p:spPr>
          <a:xfrm>
            <a:off x="7543800" y="1874520"/>
            <a:ext cx="3931920" cy="146304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Spammers misspell trigger words so exact matching misses them.</a:t>
            </a:r>
            <a:endParaRPr lang="en-US" sz="1500" dirty="0"/>
          </a:p>
          <a:p>
            <a:pPr indent="0" marL="0">
              <a:spcAft>
                <a:spcPts val="600"/>
              </a:spcAft>
              <a:buNone/>
            </a:pPr>
            <a:r>
              <a:rPr lang="en-US" sz="1500" dirty="0">
                <a:solidFill>
                  <a:schemeClr val="bg2"/>
                </a:solidFill>
              </a:rPr>
              <a:t>Levenshtein distance = fewest single-letter edits between two words.</a:t>
            </a:r>
            <a:endParaRPr lang="en-US" sz="1500" dirty="0"/>
          </a:p>
        </p:txBody>
      </p:sp>
      <p:sp>
        <p:nvSpPr>
          <p:cNvPr id="8" name="fix fr33"/>
          <p:cNvSpPr txBox="1"/>
          <p:nvPr/>
        </p:nvSpPr>
        <p:spPr>
          <a:xfrm>
            <a:off x="7543800" y="3429000"/>
            <a:ext cx="3931920" cy="411480"/>
          </a:xfrm>
          <a:prstGeom prst="rect">
            <a:avLst/>
          </a:prstGeom>
          <a:noFill/>
          <a:ln/>
        </p:spPr>
        <p:txBody>
          <a:bodyPr wrap="square" lIns="0" tIns="0" rIns="0" bIns="0" rtlCol="0" anchor="ctr"/>
          <a:lstStyle/>
          <a:p>
            <a:pPr indent="0" marL="0">
              <a:buNone/>
            </a:pPr>
            <a:r>
              <a:rPr lang="en-US" sz="1800" b="1" dirty="0">
                <a:solidFill>
                  <a:srgbClr val="2DE2FF"/>
                </a:solidFill>
                <a:latin typeface="Courier New" pitchFamily="34" charset="0"/>
                <a:ea typeface="Courier New" pitchFamily="34" charset="-122"/>
                <a:cs typeface="Courier New" pitchFamily="34" charset="-120"/>
              </a:rPr>
              <a:t>fr33</a:t>
            </a:r>
            <a:pPr indent="0" marL="0">
              <a:buNone/>
            </a:pPr>
            <a:r>
              <a:rPr lang="en-US" sz="1800" dirty="0">
                <a:solidFill>
                  <a:srgbClr val="8A8AA3"/>
                </a:solidFill>
                <a:latin typeface="Courier New" pitchFamily="34" charset="0"/>
                <a:ea typeface="Courier New" pitchFamily="34" charset="-122"/>
                <a:cs typeface="Courier New" pitchFamily="34" charset="-120"/>
              </a:rPr>
              <a:t>  →  </a:t>
            </a:r>
            <a:pPr indent="0" marL="0">
              <a:buNone/>
            </a:pPr>
            <a:r>
              <a:rPr lang="en-US" sz="1800" b="1" dirty="0">
                <a:solidFill>
                  <a:srgbClr val="FF2BD6"/>
                </a:solidFill>
                <a:latin typeface="Courier New" pitchFamily="34" charset="0"/>
                <a:ea typeface="Courier New" pitchFamily="34" charset="-122"/>
                <a:cs typeface="Courier New" pitchFamily="34" charset="-120"/>
              </a:rPr>
              <a:t>free</a:t>
            </a:r>
            <a:pPr indent="0" marL="0">
              <a:buNone/>
            </a:pPr>
            <a:r>
              <a:rPr lang="en-US" sz="1800" dirty="0">
                <a:solidFill>
                  <a:srgbClr val="8A8AA3"/>
                </a:solidFill>
                <a:latin typeface="Courier New" pitchFamily="34" charset="0"/>
                <a:ea typeface="Courier New" pitchFamily="34" charset="-122"/>
                <a:cs typeface="Courier New" pitchFamily="34" charset="-120"/>
              </a:rPr>
              <a:t>   (2 edits)</a:t>
            </a:r>
            <a:endParaRPr lang="en-US" sz="1800" dirty="0"/>
          </a:p>
        </p:txBody>
      </p:sp>
      <p:sp>
        <p:nvSpPr>
          <p:cNvPr id="9" name="fix w1nner"/>
          <p:cNvSpPr txBox="1"/>
          <p:nvPr/>
        </p:nvSpPr>
        <p:spPr>
          <a:xfrm>
            <a:off x="7543800" y="3977640"/>
            <a:ext cx="3931920" cy="411480"/>
          </a:xfrm>
          <a:prstGeom prst="rect">
            <a:avLst/>
          </a:prstGeom>
          <a:noFill/>
          <a:ln/>
        </p:spPr>
        <p:txBody>
          <a:bodyPr wrap="square" lIns="0" tIns="0" rIns="0" bIns="0" rtlCol="0" anchor="ctr"/>
          <a:lstStyle/>
          <a:p>
            <a:pPr indent="0" marL="0">
              <a:buNone/>
            </a:pPr>
            <a:r>
              <a:rPr lang="en-US" sz="1800" b="1" dirty="0">
                <a:solidFill>
                  <a:srgbClr val="2DE2FF"/>
                </a:solidFill>
                <a:latin typeface="Courier New" pitchFamily="34" charset="0"/>
                <a:ea typeface="Courier New" pitchFamily="34" charset="-122"/>
                <a:cs typeface="Courier New" pitchFamily="34" charset="-120"/>
              </a:rPr>
              <a:t>w1nner</a:t>
            </a:r>
            <a:pPr indent="0" marL="0">
              <a:buNone/>
            </a:pPr>
            <a:r>
              <a:rPr lang="en-US" sz="1800" dirty="0">
                <a:solidFill>
                  <a:srgbClr val="8A8AA3"/>
                </a:solidFill>
                <a:latin typeface="Courier New" pitchFamily="34" charset="0"/>
                <a:ea typeface="Courier New" pitchFamily="34" charset="-122"/>
                <a:cs typeface="Courier New" pitchFamily="34" charset="-120"/>
              </a:rPr>
              <a:t>  →  </a:t>
            </a:r>
            <a:pPr indent="0" marL="0">
              <a:buNone/>
            </a:pPr>
            <a:r>
              <a:rPr lang="en-US" sz="1800" b="1" dirty="0">
                <a:solidFill>
                  <a:srgbClr val="FF2BD6"/>
                </a:solidFill>
                <a:latin typeface="Courier New" pitchFamily="34" charset="0"/>
                <a:ea typeface="Courier New" pitchFamily="34" charset="-122"/>
                <a:cs typeface="Courier New" pitchFamily="34" charset="-120"/>
              </a:rPr>
              <a:t>winner</a:t>
            </a:r>
            <a:pPr indent="0" marL="0">
              <a:buNone/>
            </a:pPr>
            <a:r>
              <a:rPr lang="en-US" sz="1800" dirty="0">
                <a:solidFill>
                  <a:srgbClr val="8A8AA3"/>
                </a:solidFill>
                <a:latin typeface="Courier New" pitchFamily="34" charset="0"/>
                <a:ea typeface="Courier New" pitchFamily="34" charset="-122"/>
                <a:cs typeface="Courier New" pitchFamily="34" charset="-120"/>
              </a:rPr>
              <a:t>   (1 edit)</a:t>
            </a:r>
            <a:endParaRPr lang="en-US" sz="1800" dirty="0"/>
          </a:p>
        </p:txBody>
      </p:sp>
      <p:sp>
        <p:nvSpPr>
          <p:cNvPr id="10" name="fix pr1ze"/>
          <p:cNvSpPr txBox="1"/>
          <p:nvPr/>
        </p:nvSpPr>
        <p:spPr>
          <a:xfrm>
            <a:off x="7543800" y="4526280"/>
            <a:ext cx="3931920" cy="411480"/>
          </a:xfrm>
          <a:prstGeom prst="rect">
            <a:avLst/>
          </a:prstGeom>
          <a:noFill/>
          <a:ln/>
        </p:spPr>
        <p:txBody>
          <a:bodyPr wrap="square" lIns="0" tIns="0" rIns="0" bIns="0" rtlCol="0" anchor="ctr"/>
          <a:lstStyle/>
          <a:p>
            <a:pPr indent="0" marL="0">
              <a:buNone/>
            </a:pPr>
            <a:r>
              <a:rPr lang="en-US" sz="1800" b="1" dirty="0">
                <a:solidFill>
                  <a:srgbClr val="2DE2FF"/>
                </a:solidFill>
                <a:latin typeface="Courier New" pitchFamily="34" charset="0"/>
                <a:ea typeface="Courier New" pitchFamily="34" charset="-122"/>
                <a:cs typeface="Courier New" pitchFamily="34" charset="-120"/>
              </a:rPr>
              <a:t>pr1ze</a:t>
            </a:r>
            <a:pPr indent="0" marL="0">
              <a:buNone/>
            </a:pPr>
            <a:r>
              <a:rPr lang="en-US" sz="1800" dirty="0">
                <a:solidFill>
                  <a:srgbClr val="8A8AA3"/>
                </a:solidFill>
                <a:latin typeface="Courier New" pitchFamily="34" charset="0"/>
                <a:ea typeface="Courier New" pitchFamily="34" charset="-122"/>
                <a:cs typeface="Courier New" pitchFamily="34" charset="-120"/>
              </a:rPr>
              <a:t>  →  </a:t>
            </a:r>
            <a:pPr indent="0" marL="0">
              <a:buNone/>
            </a:pPr>
            <a:r>
              <a:rPr lang="en-US" sz="1800" b="1" dirty="0">
                <a:solidFill>
                  <a:srgbClr val="FF2BD6"/>
                </a:solidFill>
                <a:latin typeface="Courier New" pitchFamily="34" charset="0"/>
                <a:ea typeface="Courier New" pitchFamily="34" charset="-122"/>
                <a:cs typeface="Courier New" pitchFamily="34" charset="-120"/>
              </a:rPr>
              <a:t>prize</a:t>
            </a:r>
            <a:pPr indent="0" marL="0">
              <a:buNone/>
            </a:pPr>
            <a:r>
              <a:rPr lang="en-US" sz="1800" dirty="0">
                <a:solidFill>
                  <a:srgbClr val="8A8AA3"/>
                </a:solidFill>
                <a:latin typeface="Courier New" pitchFamily="34" charset="0"/>
                <a:ea typeface="Courier New" pitchFamily="34" charset="-122"/>
                <a:cs typeface="Courier New" pitchFamily="34" charset="-120"/>
              </a:rPr>
              <a:t>   (1 edit)</a:t>
            </a:r>
            <a:endParaRPr lang="en-US" sz="1800" dirty="0"/>
          </a:p>
        </p:txBody>
      </p:sp>
      <p:sp>
        <p:nvSpPr>
          <p:cNvPr id="11" name="fix c4sh"/>
          <p:cNvSpPr txBox="1"/>
          <p:nvPr/>
        </p:nvSpPr>
        <p:spPr>
          <a:xfrm>
            <a:off x="7543800" y="5074920"/>
            <a:ext cx="3931920" cy="411480"/>
          </a:xfrm>
          <a:prstGeom prst="rect">
            <a:avLst/>
          </a:prstGeom>
          <a:noFill/>
          <a:ln/>
        </p:spPr>
        <p:txBody>
          <a:bodyPr wrap="square" lIns="0" tIns="0" rIns="0" bIns="0" rtlCol="0" anchor="ctr"/>
          <a:lstStyle/>
          <a:p>
            <a:pPr indent="0" marL="0">
              <a:buNone/>
            </a:pPr>
            <a:r>
              <a:rPr lang="en-US" sz="1800" b="1" dirty="0">
                <a:solidFill>
                  <a:srgbClr val="2DE2FF"/>
                </a:solidFill>
                <a:latin typeface="Courier New" pitchFamily="34" charset="0"/>
                <a:ea typeface="Courier New" pitchFamily="34" charset="-122"/>
                <a:cs typeface="Courier New" pitchFamily="34" charset="-120"/>
              </a:rPr>
              <a:t>c4sh</a:t>
            </a:r>
            <a:pPr indent="0" marL="0">
              <a:buNone/>
            </a:pPr>
            <a:r>
              <a:rPr lang="en-US" sz="1800" dirty="0">
                <a:solidFill>
                  <a:srgbClr val="8A8AA3"/>
                </a:solidFill>
                <a:latin typeface="Courier New" pitchFamily="34" charset="0"/>
                <a:ea typeface="Courier New" pitchFamily="34" charset="-122"/>
                <a:cs typeface="Courier New" pitchFamily="34" charset="-120"/>
              </a:rPr>
              <a:t>  →  </a:t>
            </a:r>
            <a:pPr indent="0" marL="0">
              <a:buNone/>
            </a:pPr>
            <a:r>
              <a:rPr lang="en-US" sz="1800" b="1" dirty="0">
                <a:solidFill>
                  <a:srgbClr val="FF2BD6"/>
                </a:solidFill>
                <a:latin typeface="Courier New" pitchFamily="34" charset="0"/>
                <a:ea typeface="Courier New" pitchFamily="34" charset="-122"/>
                <a:cs typeface="Courier New" pitchFamily="34" charset="-120"/>
              </a:rPr>
              <a:t>cash</a:t>
            </a:r>
            <a:pPr indent="0" marL="0">
              <a:buNone/>
            </a:pPr>
            <a:r>
              <a:rPr lang="en-US" sz="1800" dirty="0">
                <a:solidFill>
                  <a:srgbClr val="8A8AA3"/>
                </a:solidFill>
                <a:latin typeface="Courier New" pitchFamily="34" charset="0"/>
                <a:ea typeface="Courier New" pitchFamily="34" charset="-122"/>
                <a:cs typeface="Courier New" pitchFamily="34" charset="-120"/>
              </a:rPr>
              <a:t>   (1 edit)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10 · YOUR TURN · LIVE DEMO</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Try to fool the filter</a:t>
            </a:r>
            <a:endParaRPr lang="en-US" sz="3600" dirty="0"/>
          </a:p>
        </p:txBody>
      </p:sp>
      <p:sp>
        <p:nvSpPr>
          <p:cNvPr id="5" name="chip 0"/>
          <p:cNvSpPr/>
          <p:nvPr/>
        </p:nvSpPr>
        <p:spPr>
          <a:xfrm>
            <a:off x="548640" y="1828800"/>
            <a:ext cx="2670048" cy="475488"/>
          </a:xfrm>
          <a:prstGeom prst="roundRect">
            <a:avLst>
              <a:gd name="adj" fmla="val 15385"/>
            </a:avLst>
          </a:prstGeom>
          <a:solidFill>
            <a:srgbClr val="14131F"/>
          </a:solidFill>
          <a:ln w="15875">
            <a:solidFill>
              <a:srgbClr val="FF2BD6"/>
            </a:solidFill>
            <a:prstDash val="solid"/>
          </a:ln>
        </p:spPr>
      </p:sp>
      <p:sp>
        <p:nvSpPr>
          <p:cNvPr id="6" name="chip text 0"/>
          <p:cNvSpPr txBox="1"/>
          <p:nvPr/>
        </p:nvSpPr>
        <p:spPr>
          <a:xfrm>
            <a:off x="548640" y="1828800"/>
            <a:ext cx="267004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congratulations</a:t>
            </a:r>
            <a:pPr algn="ctr" indent="0" marL="0">
              <a:buNone/>
            </a:pPr>
            <a:r>
              <a:rPr lang="en-US" sz="1000" dirty="0">
                <a:solidFill>
                  <a:srgbClr val="FF2BD6"/>
                </a:solidFill>
                <a:latin typeface="Courier New" pitchFamily="34" charset="0"/>
                <a:ea typeface="Courier New" pitchFamily="34" charset="-122"/>
                <a:cs typeface="Courier New" pitchFamily="34" charset="-120"/>
              </a:rPr>
              <a:t> +2.7</a:t>
            </a:r>
            <a:endParaRPr lang="en-US" sz="1400" dirty="0"/>
          </a:p>
        </p:txBody>
      </p:sp>
      <p:sp>
        <p:nvSpPr>
          <p:cNvPr id="7" name="chip 1"/>
          <p:cNvSpPr/>
          <p:nvPr/>
        </p:nvSpPr>
        <p:spPr>
          <a:xfrm>
            <a:off x="3328416" y="1828800"/>
            <a:ext cx="1024128" cy="475488"/>
          </a:xfrm>
          <a:prstGeom prst="roundRect">
            <a:avLst>
              <a:gd name="adj" fmla="val 15385"/>
            </a:avLst>
          </a:prstGeom>
          <a:solidFill>
            <a:srgbClr val="14131F"/>
          </a:solidFill>
          <a:ln w="15875">
            <a:solidFill>
              <a:srgbClr val="2DE2FF"/>
            </a:solidFill>
            <a:prstDash val="solid"/>
          </a:ln>
        </p:spPr>
      </p:sp>
      <p:sp>
        <p:nvSpPr>
          <p:cNvPr id="8" name="chip text 1"/>
          <p:cNvSpPr txBox="1"/>
          <p:nvPr/>
        </p:nvSpPr>
        <p:spPr>
          <a:xfrm>
            <a:off x="3328416" y="1828800"/>
            <a:ext cx="102412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you</a:t>
            </a:r>
            <a:pPr algn="ctr" indent="0" marL="0">
              <a:buNone/>
            </a:pPr>
            <a:r>
              <a:rPr lang="en-US" sz="1000" dirty="0">
                <a:solidFill>
                  <a:srgbClr val="2DE2FF"/>
                </a:solidFill>
                <a:latin typeface="Courier New" pitchFamily="34" charset="0"/>
                <a:ea typeface="Courier New" pitchFamily="34" charset="-122"/>
                <a:cs typeface="Courier New" pitchFamily="34" charset="-120"/>
              </a:rPr>
              <a:t> -0.9</a:t>
            </a:r>
            <a:endParaRPr lang="en-US" sz="1400" dirty="0"/>
          </a:p>
        </p:txBody>
      </p:sp>
      <p:sp>
        <p:nvSpPr>
          <p:cNvPr id="9" name="chip 2"/>
          <p:cNvSpPr/>
          <p:nvPr/>
        </p:nvSpPr>
        <p:spPr>
          <a:xfrm>
            <a:off x="4462272" y="1828800"/>
            <a:ext cx="1161288" cy="475488"/>
          </a:xfrm>
          <a:prstGeom prst="roundRect">
            <a:avLst>
              <a:gd name="adj" fmla="val 15385"/>
            </a:avLst>
          </a:prstGeom>
          <a:solidFill>
            <a:srgbClr val="14131F"/>
          </a:solidFill>
          <a:ln w="15875">
            <a:solidFill>
              <a:srgbClr val="8A8AA3"/>
            </a:solidFill>
            <a:prstDash val="solid"/>
          </a:ln>
        </p:spPr>
      </p:sp>
      <p:sp>
        <p:nvSpPr>
          <p:cNvPr id="10" name="chip text 2"/>
          <p:cNvSpPr txBox="1"/>
          <p:nvPr/>
        </p:nvSpPr>
        <p:spPr>
          <a:xfrm>
            <a:off x="4462272" y="1828800"/>
            <a:ext cx="116128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have</a:t>
            </a:r>
            <a:pPr algn="ctr" indent="0" marL="0">
              <a:buNone/>
            </a:pPr>
            <a:r>
              <a:rPr lang="en-US" sz="1000" dirty="0">
                <a:solidFill>
                  <a:srgbClr val="8A8AA3"/>
                </a:solidFill>
                <a:latin typeface="Courier New" pitchFamily="34" charset="0"/>
                <a:ea typeface="Courier New" pitchFamily="34" charset="-122"/>
                <a:cs typeface="Courier New" pitchFamily="34" charset="-120"/>
              </a:rPr>
              <a:t> -0.2</a:t>
            </a:r>
            <a:endParaRPr lang="en-US" sz="1400" dirty="0"/>
          </a:p>
        </p:txBody>
      </p:sp>
      <p:sp>
        <p:nvSpPr>
          <p:cNvPr id="11" name="chip 3"/>
          <p:cNvSpPr/>
          <p:nvPr/>
        </p:nvSpPr>
        <p:spPr>
          <a:xfrm>
            <a:off x="5733288" y="1828800"/>
            <a:ext cx="1024128" cy="475488"/>
          </a:xfrm>
          <a:prstGeom prst="roundRect">
            <a:avLst>
              <a:gd name="adj" fmla="val 15385"/>
            </a:avLst>
          </a:prstGeom>
          <a:solidFill>
            <a:srgbClr val="14131F"/>
          </a:solidFill>
          <a:ln w="15875">
            <a:solidFill>
              <a:srgbClr val="FF2BD6"/>
            </a:solidFill>
            <a:prstDash val="solid"/>
          </a:ln>
        </p:spPr>
      </p:sp>
      <p:sp>
        <p:nvSpPr>
          <p:cNvPr id="12" name="chip text 3"/>
          <p:cNvSpPr txBox="1"/>
          <p:nvPr/>
        </p:nvSpPr>
        <p:spPr>
          <a:xfrm>
            <a:off x="5733288" y="1828800"/>
            <a:ext cx="102412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won</a:t>
            </a:r>
            <a:pPr algn="ctr" indent="0" marL="0">
              <a:buNone/>
            </a:pPr>
            <a:r>
              <a:rPr lang="en-US" sz="1000" dirty="0">
                <a:solidFill>
                  <a:srgbClr val="FF2BD6"/>
                </a:solidFill>
                <a:latin typeface="Courier New" pitchFamily="34" charset="0"/>
                <a:ea typeface="Courier New" pitchFamily="34" charset="-122"/>
                <a:cs typeface="Courier New" pitchFamily="34" charset="-120"/>
              </a:rPr>
              <a:t> +2.1</a:t>
            </a:r>
            <a:endParaRPr lang="en-US" sz="1400" dirty="0"/>
          </a:p>
        </p:txBody>
      </p:sp>
      <p:sp>
        <p:nvSpPr>
          <p:cNvPr id="13" name="chip 4"/>
          <p:cNvSpPr/>
          <p:nvPr/>
        </p:nvSpPr>
        <p:spPr>
          <a:xfrm>
            <a:off x="548640" y="2468880"/>
            <a:ext cx="749808" cy="475488"/>
          </a:xfrm>
          <a:prstGeom prst="roundRect">
            <a:avLst>
              <a:gd name="adj" fmla="val 15385"/>
            </a:avLst>
          </a:prstGeom>
          <a:solidFill>
            <a:srgbClr val="14131F"/>
          </a:solidFill>
          <a:ln w="15875">
            <a:solidFill>
              <a:srgbClr val="8A8AA3"/>
            </a:solidFill>
            <a:prstDash val="solid"/>
          </a:ln>
        </p:spPr>
      </p:sp>
      <p:sp>
        <p:nvSpPr>
          <p:cNvPr id="14" name="chip text 4"/>
          <p:cNvSpPr txBox="1"/>
          <p:nvPr/>
        </p:nvSpPr>
        <p:spPr>
          <a:xfrm>
            <a:off x="548640" y="2468880"/>
            <a:ext cx="74980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a</a:t>
            </a:r>
            <a:pPr algn="ctr" indent="0" marL="0">
              <a:buNone/>
            </a:pPr>
            <a:r>
              <a:rPr lang="en-US" sz="1000" dirty="0">
                <a:solidFill>
                  <a:srgbClr val="8A8AA3"/>
                </a:solidFill>
                <a:latin typeface="Courier New" pitchFamily="34" charset="0"/>
                <a:ea typeface="Courier New" pitchFamily="34" charset="-122"/>
                <a:cs typeface="Courier New" pitchFamily="34" charset="-120"/>
              </a:rPr>
              <a:t> -0.0</a:t>
            </a:r>
            <a:endParaRPr lang="en-US" sz="1400" dirty="0"/>
          </a:p>
        </p:txBody>
      </p:sp>
      <p:sp>
        <p:nvSpPr>
          <p:cNvPr id="15" name="chip 5"/>
          <p:cNvSpPr/>
          <p:nvPr/>
        </p:nvSpPr>
        <p:spPr>
          <a:xfrm>
            <a:off x="1408176" y="2468880"/>
            <a:ext cx="1161288" cy="475488"/>
          </a:xfrm>
          <a:prstGeom prst="roundRect">
            <a:avLst>
              <a:gd name="adj" fmla="val 15385"/>
            </a:avLst>
          </a:prstGeom>
          <a:solidFill>
            <a:srgbClr val="14131F"/>
          </a:solidFill>
          <a:ln w="15875">
            <a:solidFill>
              <a:srgbClr val="FF2BD6"/>
            </a:solidFill>
            <a:prstDash val="solid"/>
          </a:ln>
        </p:spPr>
      </p:sp>
      <p:sp>
        <p:nvSpPr>
          <p:cNvPr id="16" name="chip text 5"/>
          <p:cNvSpPr txBox="1"/>
          <p:nvPr/>
        </p:nvSpPr>
        <p:spPr>
          <a:xfrm>
            <a:off x="1408176" y="2468880"/>
            <a:ext cx="116128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free</a:t>
            </a:r>
            <a:pPr algn="ctr" indent="0" marL="0">
              <a:buNone/>
            </a:pPr>
            <a:r>
              <a:rPr lang="en-US" sz="1000" dirty="0">
                <a:solidFill>
                  <a:srgbClr val="FF2BD6"/>
                </a:solidFill>
                <a:latin typeface="Courier New" pitchFamily="34" charset="0"/>
                <a:ea typeface="Courier New" pitchFamily="34" charset="-122"/>
                <a:cs typeface="Courier New" pitchFamily="34" charset="-120"/>
              </a:rPr>
              <a:t> +2.4</a:t>
            </a:r>
            <a:endParaRPr lang="en-US" sz="1400" dirty="0"/>
          </a:p>
        </p:txBody>
      </p:sp>
      <p:sp>
        <p:nvSpPr>
          <p:cNvPr id="17" name="chip 6"/>
          <p:cNvSpPr/>
          <p:nvPr/>
        </p:nvSpPr>
        <p:spPr>
          <a:xfrm>
            <a:off x="2679192" y="2468880"/>
            <a:ext cx="1572768" cy="475488"/>
          </a:xfrm>
          <a:prstGeom prst="roundRect">
            <a:avLst>
              <a:gd name="adj" fmla="val 15385"/>
            </a:avLst>
          </a:prstGeom>
          <a:solidFill>
            <a:srgbClr val="14131F"/>
          </a:solidFill>
          <a:ln w="15875">
            <a:solidFill>
              <a:srgbClr val="FF2BD6"/>
            </a:solidFill>
            <a:prstDash val="solid"/>
          </a:ln>
        </p:spPr>
      </p:sp>
      <p:sp>
        <p:nvSpPr>
          <p:cNvPr id="18" name="chip text 6"/>
          <p:cNvSpPr txBox="1"/>
          <p:nvPr/>
        </p:nvSpPr>
        <p:spPr>
          <a:xfrm>
            <a:off x="2679192" y="2468880"/>
            <a:ext cx="157276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holiday</a:t>
            </a:r>
            <a:pPr algn="ctr" indent="0" marL="0">
              <a:buNone/>
            </a:pPr>
            <a:r>
              <a:rPr lang="en-US" sz="1000" dirty="0">
                <a:solidFill>
                  <a:srgbClr val="FF2BD6"/>
                </a:solidFill>
                <a:latin typeface="Courier New" pitchFamily="34" charset="0"/>
                <a:ea typeface="Courier New" pitchFamily="34" charset="-122"/>
                <a:cs typeface="Courier New" pitchFamily="34" charset="-120"/>
              </a:rPr>
              <a:t> +1.5</a:t>
            </a:r>
            <a:endParaRPr lang="en-US" sz="1400" dirty="0"/>
          </a:p>
        </p:txBody>
      </p:sp>
      <p:sp>
        <p:nvSpPr>
          <p:cNvPr id="19" name="chip 7"/>
          <p:cNvSpPr/>
          <p:nvPr/>
        </p:nvSpPr>
        <p:spPr>
          <a:xfrm>
            <a:off x="4361688" y="2468880"/>
            <a:ext cx="1161288" cy="475488"/>
          </a:xfrm>
          <a:prstGeom prst="roundRect">
            <a:avLst>
              <a:gd name="adj" fmla="val 15385"/>
            </a:avLst>
          </a:prstGeom>
          <a:solidFill>
            <a:srgbClr val="14131F"/>
          </a:solidFill>
          <a:ln w="15875">
            <a:solidFill>
              <a:srgbClr val="FF2BD6"/>
            </a:solidFill>
            <a:prstDash val="solid"/>
          </a:ln>
        </p:spPr>
      </p:sp>
      <p:sp>
        <p:nvSpPr>
          <p:cNvPr id="20" name="chip text 7"/>
          <p:cNvSpPr txBox="1"/>
          <p:nvPr/>
        </p:nvSpPr>
        <p:spPr>
          <a:xfrm>
            <a:off x="4361688" y="2468880"/>
            <a:ext cx="116128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call</a:t>
            </a:r>
            <a:pPr algn="ctr" indent="0" marL="0">
              <a:buNone/>
            </a:pPr>
            <a:r>
              <a:rPr lang="en-US" sz="1000" dirty="0">
                <a:solidFill>
                  <a:srgbClr val="FF2BD6"/>
                </a:solidFill>
                <a:latin typeface="Courier New" pitchFamily="34" charset="0"/>
                <a:ea typeface="Courier New" pitchFamily="34" charset="-122"/>
                <a:cs typeface="Courier New" pitchFamily="34" charset="-120"/>
              </a:rPr>
              <a:t> +1.5</a:t>
            </a:r>
            <a:endParaRPr lang="en-US" sz="1400" dirty="0"/>
          </a:p>
        </p:txBody>
      </p:sp>
      <p:sp>
        <p:nvSpPr>
          <p:cNvPr id="21" name="chip 8"/>
          <p:cNvSpPr/>
          <p:nvPr/>
        </p:nvSpPr>
        <p:spPr>
          <a:xfrm>
            <a:off x="5632704" y="2468880"/>
            <a:ext cx="1024128" cy="475488"/>
          </a:xfrm>
          <a:prstGeom prst="roundRect">
            <a:avLst>
              <a:gd name="adj" fmla="val 15385"/>
            </a:avLst>
          </a:prstGeom>
          <a:solidFill>
            <a:srgbClr val="14131F"/>
          </a:solidFill>
          <a:ln w="15875">
            <a:solidFill>
              <a:srgbClr val="8A8AA3"/>
            </a:solidFill>
            <a:prstDash val="solid"/>
          </a:ln>
        </p:spPr>
      </p:sp>
      <p:sp>
        <p:nvSpPr>
          <p:cNvPr id="22" name="chip text 8"/>
          <p:cNvSpPr txBox="1"/>
          <p:nvPr/>
        </p:nvSpPr>
        <p:spPr>
          <a:xfrm>
            <a:off x="5632704" y="2468880"/>
            <a:ext cx="102412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now</a:t>
            </a:r>
            <a:pPr algn="ctr" indent="0" marL="0">
              <a:buNone/>
            </a:pPr>
            <a:r>
              <a:rPr lang="en-US" sz="1000" dirty="0">
                <a:solidFill>
                  <a:srgbClr val="8A8AA3"/>
                </a:solidFill>
                <a:latin typeface="Courier New" pitchFamily="34" charset="0"/>
                <a:ea typeface="Courier New" pitchFamily="34" charset="-122"/>
                <a:cs typeface="Courier New" pitchFamily="34" charset="-120"/>
              </a:rPr>
              <a:t> +0.7</a:t>
            </a:r>
            <a:endParaRPr lang="en-US" sz="1400" dirty="0"/>
          </a:p>
        </p:txBody>
      </p:sp>
      <p:sp>
        <p:nvSpPr>
          <p:cNvPr id="23" name="chip 9"/>
          <p:cNvSpPr/>
          <p:nvPr/>
        </p:nvSpPr>
        <p:spPr>
          <a:xfrm>
            <a:off x="548640" y="3108960"/>
            <a:ext cx="886968" cy="475488"/>
          </a:xfrm>
          <a:prstGeom prst="roundRect">
            <a:avLst>
              <a:gd name="adj" fmla="val 15385"/>
            </a:avLst>
          </a:prstGeom>
          <a:solidFill>
            <a:srgbClr val="14131F"/>
          </a:solidFill>
          <a:ln w="15875">
            <a:solidFill>
              <a:srgbClr val="8A8AA3"/>
            </a:solidFill>
            <a:prstDash val="solid"/>
          </a:ln>
        </p:spPr>
      </p:sp>
      <p:sp>
        <p:nvSpPr>
          <p:cNvPr id="24" name="chip text 9"/>
          <p:cNvSpPr txBox="1"/>
          <p:nvPr/>
        </p:nvSpPr>
        <p:spPr>
          <a:xfrm>
            <a:off x="548640" y="3108960"/>
            <a:ext cx="88696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to</a:t>
            </a:r>
            <a:pPr algn="ctr" indent="0" marL="0">
              <a:buNone/>
            </a:pPr>
            <a:r>
              <a:rPr lang="en-US" sz="1000" dirty="0">
                <a:solidFill>
                  <a:srgbClr val="8A8AA3"/>
                </a:solidFill>
                <a:latin typeface="Courier New" pitchFamily="34" charset="0"/>
                <a:ea typeface="Courier New" pitchFamily="34" charset="-122"/>
                <a:cs typeface="Courier New" pitchFamily="34" charset="-120"/>
              </a:rPr>
              <a:t> +0.2</a:t>
            </a:r>
            <a:endParaRPr lang="en-US" sz="1400" dirty="0"/>
          </a:p>
        </p:txBody>
      </p:sp>
      <p:sp>
        <p:nvSpPr>
          <p:cNvPr id="25" name="chip 10"/>
          <p:cNvSpPr/>
          <p:nvPr/>
        </p:nvSpPr>
        <p:spPr>
          <a:xfrm>
            <a:off x="1545336" y="3108960"/>
            <a:ext cx="1298448" cy="475488"/>
          </a:xfrm>
          <a:prstGeom prst="roundRect">
            <a:avLst>
              <a:gd name="adj" fmla="val 15385"/>
            </a:avLst>
          </a:prstGeom>
          <a:solidFill>
            <a:srgbClr val="14131F"/>
          </a:solidFill>
          <a:ln w="15875">
            <a:solidFill>
              <a:srgbClr val="FF2BD6"/>
            </a:solidFill>
            <a:prstDash val="solid"/>
          </a:ln>
        </p:spPr>
      </p:sp>
      <p:sp>
        <p:nvSpPr>
          <p:cNvPr id="26" name="chip text 10"/>
          <p:cNvSpPr txBox="1"/>
          <p:nvPr/>
        </p:nvSpPr>
        <p:spPr>
          <a:xfrm>
            <a:off x="1545336" y="3108960"/>
            <a:ext cx="129844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claim</a:t>
            </a:r>
            <a:pPr algn="ctr" indent="0" marL="0">
              <a:buNone/>
            </a:pPr>
            <a:r>
              <a:rPr lang="en-US" sz="1000" dirty="0">
                <a:solidFill>
                  <a:srgbClr val="FF2BD6"/>
                </a:solidFill>
                <a:latin typeface="Courier New" pitchFamily="34" charset="0"/>
                <a:ea typeface="Courier New" pitchFamily="34" charset="-122"/>
                <a:cs typeface="Courier New" pitchFamily="34" charset="-120"/>
              </a:rPr>
              <a:t> +5.4</a:t>
            </a:r>
            <a:endParaRPr lang="en-US" sz="1400" dirty="0"/>
          </a:p>
        </p:txBody>
      </p:sp>
      <p:sp>
        <p:nvSpPr>
          <p:cNvPr id="27" name="chip 11"/>
          <p:cNvSpPr/>
          <p:nvPr/>
        </p:nvSpPr>
        <p:spPr>
          <a:xfrm>
            <a:off x="2953512" y="3108960"/>
            <a:ext cx="1161288" cy="475488"/>
          </a:xfrm>
          <a:prstGeom prst="roundRect">
            <a:avLst>
              <a:gd name="adj" fmla="val 15385"/>
            </a:avLst>
          </a:prstGeom>
          <a:solidFill>
            <a:srgbClr val="14131F"/>
          </a:solidFill>
          <a:ln w="15875">
            <a:solidFill>
              <a:srgbClr val="8A8AA3"/>
            </a:solidFill>
            <a:prstDash val="solid"/>
          </a:ln>
        </p:spPr>
      </p:sp>
      <p:sp>
        <p:nvSpPr>
          <p:cNvPr id="28" name="chip text 11"/>
          <p:cNvSpPr txBox="1"/>
          <p:nvPr/>
        </p:nvSpPr>
        <p:spPr>
          <a:xfrm>
            <a:off x="2953512" y="3108960"/>
            <a:ext cx="116128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your</a:t>
            </a:r>
            <a:pPr algn="ctr" indent="0" marL="0">
              <a:buNone/>
            </a:pPr>
            <a:r>
              <a:rPr lang="en-US" sz="1000" dirty="0">
                <a:solidFill>
                  <a:srgbClr val="8A8AA3"/>
                </a:solidFill>
                <a:latin typeface="Courier New" pitchFamily="34" charset="0"/>
                <a:ea typeface="Courier New" pitchFamily="34" charset="-122"/>
                <a:cs typeface="Courier New" pitchFamily="34" charset="-120"/>
              </a:rPr>
              <a:t> +0.6</a:t>
            </a:r>
            <a:endParaRPr lang="en-US" sz="1400" dirty="0"/>
          </a:p>
        </p:txBody>
      </p:sp>
      <p:sp>
        <p:nvSpPr>
          <p:cNvPr id="29" name="chip 12"/>
          <p:cNvSpPr/>
          <p:nvPr/>
        </p:nvSpPr>
        <p:spPr>
          <a:xfrm>
            <a:off x="4224528" y="3108960"/>
            <a:ext cx="1298448" cy="475488"/>
          </a:xfrm>
          <a:prstGeom prst="roundRect">
            <a:avLst>
              <a:gd name="adj" fmla="val 15385"/>
            </a:avLst>
          </a:prstGeom>
          <a:solidFill>
            <a:srgbClr val="14131F"/>
          </a:solidFill>
          <a:ln w="15875">
            <a:solidFill>
              <a:srgbClr val="FF2BD6"/>
            </a:solidFill>
            <a:prstDash val="solid"/>
          </a:ln>
        </p:spPr>
      </p:sp>
      <p:sp>
        <p:nvSpPr>
          <p:cNvPr id="30" name="chip text 12"/>
          <p:cNvSpPr txBox="1"/>
          <p:nvPr/>
        </p:nvSpPr>
        <p:spPr>
          <a:xfrm>
            <a:off x="4224528" y="3108960"/>
            <a:ext cx="1298448" cy="475488"/>
          </a:xfrm>
          <a:prstGeom prst="rect">
            <a:avLst/>
          </a:prstGeom>
          <a:noFill/>
          <a:ln/>
        </p:spPr>
        <p:txBody>
          <a:bodyPr wrap="square" lIns="0" tIns="0" rIns="0" bIns="0" rtlCol="0" anchor="ctr"/>
          <a:lstStyle/>
          <a:p>
            <a:pPr algn="ctr" indent="0" marL="0">
              <a:buNone/>
            </a:pPr>
            <a:r>
              <a:rPr lang="en-US" sz="1400" dirty="0">
                <a:solidFill>
                  <a:srgbClr val="ECEBF5"/>
                </a:solidFill>
                <a:latin typeface="Courier New" pitchFamily="34" charset="0"/>
                <a:ea typeface="Courier New" pitchFamily="34" charset="-122"/>
                <a:cs typeface="Courier New" pitchFamily="34" charset="-120"/>
              </a:rPr>
              <a:t>prize</a:t>
            </a:r>
            <a:pPr algn="ctr" indent="0" marL="0">
              <a:buNone/>
            </a:pPr>
            <a:r>
              <a:rPr lang="en-US" sz="1000" dirty="0">
                <a:solidFill>
                  <a:srgbClr val="FF2BD6"/>
                </a:solidFill>
                <a:latin typeface="Courier New" pitchFamily="34" charset="0"/>
                <a:ea typeface="Courier New" pitchFamily="34" charset="-122"/>
                <a:cs typeface="Courier New" pitchFamily="34" charset="-120"/>
              </a:rPr>
              <a:t> +5.2</a:t>
            </a:r>
            <a:endParaRPr lang="en-US" sz="1400" dirty="0"/>
          </a:p>
        </p:txBody>
      </p:sp>
      <p:sp>
        <p:nvSpPr>
          <p:cNvPr id="31" name="chip legend"/>
          <p:cNvSpPr txBox="1"/>
          <p:nvPr/>
        </p:nvSpPr>
        <p:spPr>
          <a:xfrm>
            <a:off x="548640" y="3931920"/>
            <a:ext cx="6949440" cy="73152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Each word carries its log likelihood ratio from the model R trained: pink pushes towards spam, cyan towards ham.</a:t>
            </a:r>
            <a:endParaRPr lang="en-US" sz="1500" dirty="0"/>
          </a:p>
        </p:txBody>
      </p:sp>
      <p:sp>
        <p:nvSpPr>
          <p:cNvPr id="32" name="log-odds sum"/>
          <p:cNvSpPr txBox="1"/>
          <p:nvPr/>
        </p:nvSpPr>
        <p:spPr>
          <a:xfrm>
            <a:off x="548640" y="4754880"/>
            <a:ext cx="6949440" cy="45720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prior log-odds -1.85 + sum of words = </a:t>
            </a:r>
            <a:pPr indent="0" marL="0">
              <a:spcAft>
                <a:spcPts val="600"/>
              </a:spcAft>
              <a:buNone/>
            </a:pPr>
            <a:r>
              <a:rPr lang="en-US" sz="1500" b="1" dirty="0">
                <a:solidFill>
                  <a:schemeClr val="bg1"/>
                </a:solidFill>
              </a:rPr>
              <a:t>19.2</a:t>
            </a:r>
            <a:endParaRPr lang="en-US" sz="1500" dirty="0"/>
          </a:p>
        </p:txBody>
      </p:sp>
      <p:sp>
        <p:nvSpPr>
          <p:cNvPr id="33" name="verdict card"/>
          <p:cNvSpPr/>
          <p:nvPr/>
        </p:nvSpPr>
        <p:spPr>
          <a:xfrm>
            <a:off x="7863840" y="1691640"/>
            <a:ext cx="3794760" cy="3291840"/>
          </a:xfrm>
          <a:prstGeom prst="roundRect">
            <a:avLst>
              <a:gd name="adj" fmla="val 3333"/>
            </a:avLst>
          </a:prstGeom>
          <a:solidFill>
            <a:srgbClr val="14131F"/>
          </a:solidFill>
          <a:ln w="9525">
            <a:solidFill>
              <a:srgbClr val="2A2840"/>
            </a:solidFill>
            <a:prstDash val="solid"/>
          </a:ln>
        </p:spPr>
      </p:sp>
      <p:sp>
        <p:nvSpPr>
          <p:cNvPr id="34" name="verdict label"/>
          <p:cNvSpPr txBox="1"/>
          <p:nvPr/>
        </p:nvSpPr>
        <p:spPr>
          <a:xfrm>
            <a:off x="8092440" y="1874520"/>
            <a:ext cx="3383280" cy="320040"/>
          </a:xfrm>
          <a:prstGeom prst="rect">
            <a:avLst/>
          </a:prstGeom>
          <a:noFill/>
          <a:ln/>
        </p:spPr>
        <p:txBody>
          <a:bodyPr wrap="square" lIns="0" tIns="0" rIns="0" bIns="0" rtlCol="0" anchor="ctr"/>
          <a:lstStyle/>
          <a:p>
            <a:pPr indent="0" marL="0">
              <a:buNone/>
            </a:pPr>
            <a:r>
              <a:rPr lang="en-US" sz="1300" dirty="0">
                <a:solidFill>
                  <a:srgbClr val="8A8AA3"/>
                </a:solidFill>
              </a:rPr>
              <a:t>P(spam | words)</a:t>
            </a:r>
            <a:endParaRPr lang="en-US" sz="1300" dirty="0"/>
          </a:p>
        </p:txBody>
      </p:sp>
      <p:sp>
        <p:nvSpPr>
          <p:cNvPr id="35" name="verdict value"/>
          <p:cNvSpPr txBox="1"/>
          <p:nvPr/>
        </p:nvSpPr>
        <p:spPr>
          <a:xfrm>
            <a:off x="8092440" y="2240280"/>
            <a:ext cx="3383280" cy="1005840"/>
          </a:xfrm>
          <a:prstGeom prst="rect">
            <a:avLst/>
          </a:prstGeom>
          <a:noFill/>
          <a:ln/>
        </p:spPr>
        <p:txBody>
          <a:bodyPr wrap="square" lIns="0" tIns="0" rIns="0" bIns="0" rtlCol="0" anchor="ctr"/>
          <a:lstStyle/>
          <a:p>
            <a:pPr indent="0" marL="0">
              <a:buNone/>
            </a:pPr>
            <a:r>
              <a:rPr lang="en-US" sz="6000" b="1" dirty="0">
                <a:solidFill>
                  <a:srgbClr val="FF2BD6"/>
                </a:solidFill>
                <a:latin typeface="Arial" pitchFamily="34" charset="0"/>
                <a:ea typeface="Arial" pitchFamily="34" charset="-122"/>
                <a:cs typeface="Arial" pitchFamily="34" charset="-120"/>
              </a:rPr>
              <a:t>&gt;99.9%</a:t>
            </a:r>
            <a:endParaRPr lang="en-US" sz="6000" dirty="0"/>
          </a:p>
        </p:txBody>
      </p:sp>
      <p:sp>
        <p:nvSpPr>
          <p:cNvPr id="36" name="verdict pill"/>
          <p:cNvSpPr/>
          <p:nvPr/>
        </p:nvSpPr>
        <p:spPr>
          <a:xfrm>
            <a:off x="8549640" y="3520440"/>
            <a:ext cx="2423160" cy="566928"/>
          </a:xfrm>
          <a:prstGeom prst="roundRect">
            <a:avLst>
              <a:gd name="adj" fmla="val 48387"/>
            </a:avLst>
          </a:prstGeom>
          <a:solidFill>
            <a:srgbClr val="FF2BD6"/>
          </a:solidFill>
          <a:ln w="12700">
            <a:solidFill>
              <a:srgbClr val="FF2BD6"/>
            </a:solidFill>
            <a:prstDash val="solid"/>
          </a:ln>
        </p:spPr>
      </p:sp>
      <p:sp>
        <p:nvSpPr>
          <p:cNvPr id="37" name="verdict pill text"/>
          <p:cNvSpPr txBox="1"/>
          <p:nvPr/>
        </p:nvSpPr>
        <p:spPr>
          <a:xfrm>
            <a:off x="8549640" y="3520440"/>
            <a:ext cx="2423160" cy="566928"/>
          </a:xfrm>
          <a:prstGeom prst="rect">
            <a:avLst/>
          </a:prstGeom>
          <a:noFill/>
          <a:ln/>
        </p:spPr>
        <p:txBody>
          <a:bodyPr wrap="square" lIns="0" tIns="0" rIns="0" bIns="0" rtlCol="0" anchor="ctr"/>
          <a:lstStyle/>
          <a:p>
            <a:pPr algn="ctr" indent="0" marL="0">
              <a:buNone/>
            </a:pPr>
            <a:r>
              <a:rPr lang="en-US" sz="1600" b="1" dirty="0">
                <a:solidFill>
                  <a:srgbClr val="07070C"/>
                </a:solidFill>
              </a:rPr>
              <a:t>→ SPAM FOLDER</a:t>
            </a:r>
            <a:endParaRPr lang="en-US" sz="1600" dirty="0"/>
          </a:p>
        </p:txBody>
      </p:sp>
      <p:sp>
        <p:nvSpPr>
          <p:cNvPr id="38" name="live hint"/>
          <p:cNvSpPr txBox="1"/>
          <p:nvPr/>
        </p:nvSpPr>
        <p:spPr>
          <a:xfrm>
            <a:off x="7863840" y="5166360"/>
            <a:ext cx="3794760" cy="100584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Live on the website: the audience types any message, and the same 7,211-word model scores it instantly.</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11 · EVALUATION · ROC · EXPECTED COST</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98.3% right. Is that good?</a:t>
            </a:r>
            <a:endParaRPr lang="en-US" sz="3600" dirty="0"/>
          </a:p>
        </p:txBody>
      </p:sp>
      <p:graphicFrame>
        <p:nvGraphicFramePr>
          <p:cNvPr id="12" name="confusion matrix"/>
          <p:cNvGraphicFramePr>
            <a:graphicFrameLocks noGrp="1"/>
          </p:cNvGraphicFramePr>
          <p:nvPr>
            <p:extLst>
              <p:ext uri="{D42A27DB-BD31-4B8C-83A1-F6EECF244321}">
                <p14:modId xmlns:p14="http://schemas.microsoft.com/office/powerpoint/2010/main" val="1579011935"/>
              </p:ext>
            </p:extLst>
          </p:nvPr>
        </p:nvGraphicFramePr>
        <p:xfrm>
          <a:off x="548640" y="1691640"/>
          <a:ext cx="5669280" cy="914400"/>
        </p:xfrm>
        <a:graphic>
          <a:graphicData uri="http://schemas.openxmlformats.org/drawingml/2006/table">
            <a:tbl>
              <a:tblPr/>
              <a:tblGrid>
                <a:gridCol w="1737360"/>
                <a:gridCol w="1965960"/>
                <a:gridCol w="1965960"/>
              </a:tblGrid>
              <a:tr h="502920">
                <a:tc>
                  <a:txBody>
                    <a:bodyPr/>
                    <a:lstStyle/>
                    <a:p>
                      <a:pPr algn="ctr" indent="0" marL="0">
                        <a:buNone/>
                      </a:pP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b="1" dirty="0">
                          <a:solidFill>
                            <a:srgbClr val="C6FF3D"/>
                          </a:solidFill>
                        </a:rPr>
                        <a:t>predicted spam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b="1" dirty="0">
                          <a:solidFill>
                            <a:srgbClr val="C6FF3D"/>
                          </a:solidFill>
                        </a:rPr>
                        <a:t>predicted ham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502920">
                <a:tc>
                  <a:txBody>
                    <a:bodyPr/>
                    <a:lstStyle/>
                    <a:p>
                      <a:pPr indent="0" marL="0">
                        <a:buNone/>
                      </a:pPr>
                      <a:r>
                        <a:rPr lang="en-US" sz="1600" b="1" dirty="0">
                          <a:solidFill>
                            <a:srgbClr val="C6FF3D"/>
                          </a:solidFill>
                        </a:rPr>
                        <a:t>actually spam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dirty="0">
                          <a:solidFill>
                            <a:srgbClr val="FF2BD6"/>
                          </a:solidFill>
                        </a:rPr>
                        <a:t>193 caught</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dirty="0">
                          <a:solidFill>
                            <a:srgbClr val="8A8AA3"/>
                          </a:solidFill>
                        </a:rPr>
                        <a:t>24 missed</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r h="502920">
                <a:tc>
                  <a:txBody>
                    <a:bodyPr/>
                    <a:lstStyle/>
                    <a:p>
                      <a:pPr indent="0" marL="0">
                        <a:buNone/>
                      </a:pPr>
                      <a:r>
                        <a:rPr lang="en-US" sz="1600" b="1" dirty="0">
                          <a:solidFill>
                            <a:srgbClr val="C6FF3D"/>
                          </a:solidFill>
                        </a:rPr>
                        <a:t>actually ham</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dirty="0">
                          <a:solidFill>
                            <a:srgbClr val="FF8A3D"/>
                          </a:solidFill>
                        </a:rPr>
                        <a:t>5 lost</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c>
                  <a:txBody>
                    <a:bodyPr/>
                    <a:lstStyle/>
                    <a:p>
                      <a:pPr algn="ctr" indent="0" marL="0">
                        <a:buNone/>
                      </a:pPr>
                      <a:r>
                        <a:rPr lang="en-US" sz="1600" dirty="0">
                          <a:solidFill>
                            <a:srgbClr val="2DE2FF"/>
                          </a:solidFill>
                        </a:rPr>
                        <a:t>1,450 kept</a:t>
                      </a:r>
                      <a:endParaRPr lang="en-US" sz="1600" dirty="0"/>
                    </a:p>
                  </a:txBody>
                  <a:tcPr marL="91440" marR="91440" marT="45720" marB="45720">
                    <a:lnL w="9525" cap="flat" cmpd="sng" algn="ctr">
                      <a:solidFill>
                        <a:srgbClr val="2A2840"/>
                      </a:solidFill>
                      <a:prstDash val="solid"/>
                      <a:round/>
                      <a:headEnd type="none" w="med" len="med"/>
                      <a:tailEnd type="none" w="med" len="med"/>
                    </a:lnL>
                    <a:lnR w="9525" cap="flat" cmpd="sng" algn="ctr">
                      <a:solidFill>
                        <a:srgbClr val="2A2840"/>
                      </a:solidFill>
                      <a:prstDash val="solid"/>
                      <a:round/>
                      <a:headEnd type="none" w="med" len="med"/>
                      <a:tailEnd type="none" w="med" len="med"/>
                    </a:lnR>
                    <a:lnT w="9525" cap="flat" cmpd="sng" algn="ctr">
                      <a:solidFill>
                        <a:srgbClr val="2A2840"/>
                      </a:solidFill>
                      <a:prstDash val="solid"/>
                      <a:round/>
                      <a:headEnd type="none" w="med" len="med"/>
                      <a:tailEnd type="none" w="med" len="med"/>
                    </a:lnT>
                    <a:lnB w="9525" cap="flat" cmpd="sng" algn="ctr">
                      <a:solidFill>
                        <a:srgbClr val="2A2840"/>
                      </a:solidFill>
                      <a:prstDash val="solid"/>
                      <a:round/>
                      <a:headEnd type="none" w="med" len="med"/>
                      <a:tailEnd type="none" w="med" len="med"/>
                    </a:lnB>
                    <a:solidFill>
                      <a:srgbClr val="14131F"/>
                    </a:solidFill>
                  </a:tcPr>
                </a:tc>
              </a:tr>
            </a:tbl>
          </a:graphicData>
        </a:graphic>
      </p:graphicFrame>
      <p:sp>
        <p:nvSpPr>
          <p:cNvPr id="6" name="stat AUC, Naive Bayes"/>
          <p:cNvSpPr/>
          <p:nvPr/>
        </p:nvSpPr>
        <p:spPr>
          <a:xfrm>
            <a:off x="548640" y="3429000"/>
            <a:ext cx="2743200" cy="1234440"/>
          </a:xfrm>
          <a:prstGeom prst="roundRect">
            <a:avLst>
              <a:gd name="adj" fmla="val 8889"/>
            </a:avLst>
          </a:prstGeom>
          <a:solidFill>
            <a:srgbClr val="14131F"/>
          </a:solidFill>
          <a:ln w="9525">
            <a:solidFill>
              <a:srgbClr val="2A2840"/>
            </a:solidFill>
            <a:prstDash val="solid"/>
          </a:ln>
        </p:spPr>
      </p:sp>
      <p:sp>
        <p:nvSpPr>
          <p:cNvPr id="7" name="value AUC, Naive Bayes"/>
          <p:cNvSpPr txBox="1"/>
          <p:nvPr/>
        </p:nvSpPr>
        <p:spPr>
          <a:xfrm>
            <a:off x="731520" y="3538728"/>
            <a:ext cx="2377440" cy="685800"/>
          </a:xfrm>
          <a:prstGeom prst="rect">
            <a:avLst/>
          </a:prstGeom>
          <a:noFill/>
          <a:ln/>
        </p:spPr>
        <p:txBody>
          <a:bodyPr wrap="square" lIns="0" tIns="0" rIns="0" bIns="0" rtlCol="0" anchor="ctr"/>
          <a:lstStyle/>
          <a:p>
            <a:pPr indent="0" marL="0">
              <a:buNone/>
            </a:pPr>
            <a:r>
              <a:rPr lang="en-US" sz="3600" b="1" dirty="0">
                <a:solidFill>
                  <a:srgbClr val="C6FF3D"/>
                </a:solidFill>
                <a:latin typeface="Arial" pitchFamily="34" charset="0"/>
                <a:ea typeface="Arial" pitchFamily="34" charset="-122"/>
                <a:cs typeface="Arial" pitchFamily="34" charset="-120"/>
              </a:rPr>
              <a:t>0.980</a:t>
            </a:r>
            <a:endParaRPr lang="en-US" sz="3600" dirty="0"/>
          </a:p>
        </p:txBody>
      </p:sp>
      <p:sp>
        <p:nvSpPr>
          <p:cNvPr id="8" name="label AUC, Naive Bayes"/>
          <p:cNvSpPr txBox="1"/>
          <p:nvPr/>
        </p:nvSpPr>
        <p:spPr>
          <a:xfrm>
            <a:off x="731520" y="4233672"/>
            <a:ext cx="2377440" cy="320040"/>
          </a:xfrm>
          <a:prstGeom prst="rect">
            <a:avLst/>
          </a:prstGeom>
          <a:noFill/>
          <a:ln/>
        </p:spPr>
        <p:txBody>
          <a:bodyPr wrap="square" lIns="0" tIns="0" rIns="0" bIns="0" rtlCol="0" anchor="ctr"/>
          <a:lstStyle/>
          <a:p>
            <a:pPr indent="0" marL="0">
              <a:buNone/>
            </a:pPr>
            <a:r>
              <a:rPr lang="en-US" sz="1200" dirty="0">
                <a:solidFill>
                  <a:srgbClr val="8A8AA3"/>
                </a:solidFill>
              </a:rPr>
              <a:t>AUC, Naive Bayes</a:t>
            </a:r>
            <a:endParaRPr lang="en-US" sz="1200" dirty="0"/>
          </a:p>
        </p:txBody>
      </p:sp>
      <p:sp>
        <p:nvSpPr>
          <p:cNvPr id="9" name="stat AUC, message length only"/>
          <p:cNvSpPr/>
          <p:nvPr/>
        </p:nvSpPr>
        <p:spPr>
          <a:xfrm>
            <a:off x="3474720" y="3429000"/>
            <a:ext cx="2743200" cy="1234440"/>
          </a:xfrm>
          <a:prstGeom prst="roundRect">
            <a:avLst>
              <a:gd name="adj" fmla="val 8889"/>
            </a:avLst>
          </a:prstGeom>
          <a:solidFill>
            <a:srgbClr val="14131F"/>
          </a:solidFill>
          <a:ln w="9525">
            <a:solidFill>
              <a:srgbClr val="2A2840"/>
            </a:solidFill>
            <a:prstDash val="solid"/>
          </a:ln>
        </p:spPr>
      </p:sp>
      <p:sp>
        <p:nvSpPr>
          <p:cNvPr id="10" name="value AUC, message length only"/>
          <p:cNvSpPr txBox="1"/>
          <p:nvPr/>
        </p:nvSpPr>
        <p:spPr>
          <a:xfrm>
            <a:off x="3657600" y="3538728"/>
            <a:ext cx="2377440" cy="685800"/>
          </a:xfrm>
          <a:prstGeom prst="rect">
            <a:avLst/>
          </a:prstGeom>
          <a:noFill/>
          <a:ln/>
        </p:spPr>
        <p:txBody>
          <a:bodyPr wrap="square" lIns="0" tIns="0" rIns="0" bIns="0" rtlCol="0" anchor="ctr"/>
          <a:lstStyle/>
          <a:p>
            <a:pPr indent="0" marL="0">
              <a:buNone/>
            </a:pPr>
            <a:r>
              <a:rPr lang="en-US" sz="3600" b="1" dirty="0">
                <a:solidFill>
                  <a:srgbClr val="FF8A3D"/>
                </a:solidFill>
                <a:latin typeface="Arial" pitchFamily="34" charset="0"/>
                <a:ea typeface="Arial" pitchFamily="34" charset="-122"/>
                <a:cs typeface="Arial" pitchFamily="34" charset="-120"/>
              </a:rPr>
              <a:t>0.872</a:t>
            </a:r>
            <a:endParaRPr lang="en-US" sz="3600" dirty="0"/>
          </a:p>
        </p:txBody>
      </p:sp>
      <p:sp>
        <p:nvSpPr>
          <p:cNvPr id="11" name="label AUC, message length only"/>
          <p:cNvSpPr txBox="1"/>
          <p:nvPr/>
        </p:nvSpPr>
        <p:spPr>
          <a:xfrm>
            <a:off x="3657600" y="4233672"/>
            <a:ext cx="2377440" cy="320040"/>
          </a:xfrm>
          <a:prstGeom prst="rect">
            <a:avLst/>
          </a:prstGeom>
          <a:noFill/>
          <a:ln/>
        </p:spPr>
        <p:txBody>
          <a:bodyPr wrap="square" lIns="0" tIns="0" rIns="0" bIns="0" rtlCol="0" anchor="ctr"/>
          <a:lstStyle/>
          <a:p>
            <a:pPr indent="0" marL="0">
              <a:buNone/>
            </a:pPr>
            <a:r>
              <a:rPr lang="en-US" sz="1200" dirty="0">
                <a:solidFill>
                  <a:srgbClr val="8A8AA3"/>
                </a:solidFill>
              </a:rPr>
              <a:t>AUC, message length only</a:t>
            </a:r>
            <a:endParaRPr lang="en-US" sz="1200" dirty="0"/>
          </a:p>
        </p:txBody>
      </p:sp>
      <p:sp>
        <p:nvSpPr>
          <p:cNvPr id="12" name="expected cost"/>
          <p:cNvSpPr txBox="1"/>
          <p:nvPr/>
        </p:nvSpPr>
        <p:spPr>
          <a:xfrm>
            <a:off x="548640" y="4846320"/>
            <a:ext cx="5669280" cy="128016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Mistakes aren't equal: losing a real message is worse than seeing one spam. </a:t>
            </a:r>
            <a:endParaRPr lang="en-US" sz="1500" dirty="0"/>
          </a:p>
          <a:p>
            <a:pPr indent="0" marL="0">
              <a:spcAft>
                <a:spcPts val="600"/>
              </a:spcAft>
              <a:buNone/>
            </a:pPr>
            <a:r>
              <a:rPr lang="en-US" sz="1500" dirty="0">
                <a:solidFill>
                  <a:schemeClr val="bg2"/>
                </a:solidFill>
              </a:rPr>
              <a:t>If a lost message costs 10× more, the cost-minimising threshold rises from 0.5 to ≈ 0.96.</a:t>
            </a:r>
            <a:endParaRPr lang="en-US" sz="1500" dirty="0"/>
          </a:p>
        </p:txBody>
      </p:sp>
      <p:pic>
        <p:nvPicPr>
          <p:cNvPr id="13" name="ROC curves" descr="ROC curves for Naive Bayes and length only">    </p:cNvPr>
          <p:cNvPicPr>
            <a:picLocks noChangeAspect="1"/>
          </p:cNvPicPr>
          <p:nvPr/>
        </p:nvPicPr>
        <p:blipFill>
          <a:blip r:embed="rId1"/>
          <a:stretch>
            <a:fillRect/>
          </a:stretch>
        </p:blipFill>
        <p:spPr>
          <a:xfrm>
            <a:off x="6537960" y="1691640"/>
            <a:ext cx="5120640" cy="3145536"/>
          </a:xfrm>
          <a:prstGeom prst="rect">
            <a:avLst/>
          </a:prstGeom>
        </p:spPr>
      </p:pic>
      <p:sp>
        <p:nvSpPr>
          <p:cNvPr id="14" name="test set note"/>
          <p:cNvSpPr txBox="1"/>
          <p:nvPr/>
        </p:nvSpPr>
        <p:spPr>
          <a:xfrm>
            <a:off x="6537960" y="4937760"/>
            <a:ext cx="5120640" cy="365760"/>
          </a:xfrm>
          <a:prstGeom prst="rect">
            <a:avLst/>
          </a:prstGeom>
          <a:noFill/>
          <a:ln/>
        </p:spPr>
        <p:txBody>
          <a:bodyPr wrap="square" lIns="0" tIns="0" rIns="0" bIns="0" rtlCol="0" anchor="t"/>
          <a:lstStyle/>
          <a:p>
            <a:pPr indent="0" marL="0">
              <a:spcAft>
                <a:spcPts val="600"/>
              </a:spcAft>
              <a:buNone/>
            </a:pPr>
            <a:r>
              <a:rPr lang="en-US" sz="1300" dirty="0">
                <a:solidFill>
                  <a:schemeClr val="bg1"/>
                </a:solidFill>
              </a:rPr>
              <a:t>Tested on 1,672 messages the model never saw.</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300" kern="0" dirty="0">
                <a:solidFill>
                  <a:schemeClr val="accent3"/>
                </a:solidFill>
              </a:rPr>
              <a:t>12 · WHAT R TOLD US</a:t>
            </a:r>
            <a:endParaRPr lang="en-US" sz="12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3600" b="1" dirty="0">
                <a:solidFill>
                  <a:schemeClr val="bg1"/>
                </a:solidFill>
              </a:rPr>
              <a:t>Your spam filter is a statistician</a:t>
            </a:r>
            <a:endParaRPr lang="en-US" sz="3600" dirty="0"/>
          </a:p>
        </p:txBody>
      </p:sp>
      <p:sp>
        <p:nvSpPr>
          <p:cNvPr id="5" name="tile Binomial"/>
          <p:cNvSpPr/>
          <p:nvPr/>
        </p:nvSpPr>
        <p:spPr>
          <a:xfrm>
            <a:off x="548640" y="1691640"/>
            <a:ext cx="2606040" cy="1234440"/>
          </a:xfrm>
          <a:prstGeom prst="roundRect">
            <a:avLst>
              <a:gd name="adj" fmla="val 8889"/>
            </a:avLst>
          </a:prstGeom>
          <a:solidFill>
            <a:srgbClr val="14131F"/>
          </a:solidFill>
          <a:ln w="9525">
            <a:solidFill>
              <a:srgbClr val="2A2840"/>
            </a:solidFill>
            <a:prstDash val="solid"/>
          </a:ln>
        </p:spPr>
      </p:sp>
      <p:sp>
        <p:nvSpPr>
          <p:cNvPr id="6" name="tile title Binomial"/>
          <p:cNvSpPr txBox="1"/>
          <p:nvPr/>
        </p:nvSpPr>
        <p:spPr>
          <a:xfrm>
            <a:off x="731520" y="1828800"/>
            <a:ext cx="2240280" cy="365760"/>
          </a:xfrm>
          <a:prstGeom prst="rect">
            <a:avLst/>
          </a:prstGeom>
          <a:noFill/>
          <a:ln/>
        </p:spPr>
        <p:txBody>
          <a:bodyPr wrap="square" lIns="0" tIns="0" rIns="0" bIns="0" rtlCol="0" anchor="ctr"/>
          <a:lstStyle/>
          <a:p>
            <a:pPr indent="0" marL="0">
              <a:buNone/>
            </a:pPr>
            <a:r>
              <a:rPr lang="en-US" sz="1600" b="1" dirty="0">
                <a:solidFill>
                  <a:srgbClr val="FF2BD6"/>
                </a:solidFill>
              </a:rPr>
              <a:t>Binomial</a:t>
            </a:r>
            <a:endParaRPr lang="en-US" sz="1600" dirty="0"/>
          </a:p>
        </p:txBody>
      </p:sp>
      <p:sp>
        <p:nvSpPr>
          <p:cNvPr id="7" name="tile text Binomial"/>
          <p:cNvSpPr txBox="1"/>
          <p:nvPr/>
        </p:nvSpPr>
        <p:spPr>
          <a:xfrm>
            <a:off x="731520" y="2240280"/>
            <a:ext cx="2286000" cy="548640"/>
          </a:xfrm>
          <a:prstGeom prst="rect">
            <a:avLst/>
          </a:prstGeom>
          <a:noFill/>
          <a:ln/>
        </p:spPr>
        <p:txBody>
          <a:bodyPr wrap="square" lIns="0" tIns="0" rIns="0" bIns="0" rtlCol="0" anchor="ctr"/>
          <a:lstStyle/>
          <a:p>
            <a:pPr indent="0" marL="0">
              <a:buNone/>
            </a:pPr>
            <a:r>
              <a:rPr lang="en-US" sz="1300" dirty="0">
                <a:solidFill>
                  <a:srgbClr val="ECEBF5"/>
                </a:solidFill>
              </a:rPr>
              <a:t>98.7% chance of spam today</a:t>
            </a:r>
            <a:endParaRPr lang="en-US" sz="1300" dirty="0"/>
          </a:p>
        </p:txBody>
      </p:sp>
      <p:sp>
        <p:nvSpPr>
          <p:cNvPr id="8" name="tile t-test"/>
          <p:cNvSpPr/>
          <p:nvPr/>
        </p:nvSpPr>
        <p:spPr>
          <a:xfrm>
            <a:off x="3364992" y="1691640"/>
            <a:ext cx="2606040" cy="1234440"/>
          </a:xfrm>
          <a:prstGeom prst="roundRect">
            <a:avLst>
              <a:gd name="adj" fmla="val 8889"/>
            </a:avLst>
          </a:prstGeom>
          <a:solidFill>
            <a:srgbClr val="14131F"/>
          </a:solidFill>
          <a:ln w="9525">
            <a:solidFill>
              <a:srgbClr val="2A2840"/>
            </a:solidFill>
            <a:prstDash val="solid"/>
          </a:ln>
        </p:spPr>
      </p:sp>
      <p:sp>
        <p:nvSpPr>
          <p:cNvPr id="9" name="tile title t-test"/>
          <p:cNvSpPr txBox="1"/>
          <p:nvPr/>
        </p:nvSpPr>
        <p:spPr>
          <a:xfrm>
            <a:off x="3547872" y="1828800"/>
            <a:ext cx="2240280" cy="365760"/>
          </a:xfrm>
          <a:prstGeom prst="rect">
            <a:avLst/>
          </a:prstGeom>
          <a:noFill/>
          <a:ln/>
        </p:spPr>
        <p:txBody>
          <a:bodyPr wrap="square" lIns="0" tIns="0" rIns="0" bIns="0" rtlCol="0" anchor="ctr"/>
          <a:lstStyle/>
          <a:p>
            <a:pPr indent="0" marL="0">
              <a:buNone/>
            </a:pPr>
            <a:r>
              <a:rPr lang="en-US" sz="1600" b="1" dirty="0">
                <a:solidFill>
                  <a:srgbClr val="FF8A3D"/>
                </a:solidFill>
              </a:rPr>
              <a:t>t-test</a:t>
            </a:r>
            <a:endParaRPr lang="en-US" sz="1600" dirty="0"/>
          </a:p>
        </p:txBody>
      </p:sp>
      <p:sp>
        <p:nvSpPr>
          <p:cNvPr id="10" name="tile text t-test"/>
          <p:cNvSpPr txBox="1"/>
          <p:nvPr/>
        </p:nvSpPr>
        <p:spPr>
          <a:xfrm>
            <a:off x="3547872" y="2240280"/>
            <a:ext cx="2286000" cy="548640"/>
          </a:xfrm>
          <a:prstGeom prst="rect">
            <a:avLst/>
          </a:prstGeom>
          <a:noFill/>
          <a:ln/>
        </p:spPr>
        <p:txBody>
          <a:bodyPr wrap="square" lIns="0" tIns="0" rIns="0" bIns="0" rtlCol="0" anchor="ctr"/>
          <a:lstStyle/>
          <a:p>
            <a:pPr indent="0" marL="0">
              <a:buNone/>
            </a:pPr>
            <a:r>
              <a:rPr lang="en-US" sz="1300" dirty="0">
                <a:solidFill>
                  <a:srgbClr val="ECEBF5"/>
                </a:solidFill>
              </a:rPr>
              <a:t>spam is ~67 chars longer</a:t>
            </a:r>
            <a:endParaRPr lang="en-US" sz="1300" dirty="0"/>
          </a:p>
        </p:txBody>
      </p:sp>
      <p:sp>
        <p:nvSpPr>
          <p:cNvPr id="11" name="tile Bayes"/>
          <p:cNvSpPr/>
          <p:nvPr/>
        </p:nvSpPr>
        <p:spPr>
          <a:xfrm>
            <a:off x="6181344" y="1691640"/>
            <a:ext cx="2606040" cy="1234440"/>
          </a:xfrm>
          <a:prstGeom prst="roundRect">
            <a:avLst>
              <a:gd name="adj" fmla="val 8889"/>
            </a:avLst>
          </a:prstGeom>
          <a:solidFill>
            <a:srgbClr val="14131F"/>
          </a:solidFill>
          <a:ln w="9525">
            <a:solidFill>
              <a:srgbClr val="2A2840"/>
            </a:solidFill>
            <a:prstDash val="solid"/>
          </a:ln>
        </p:spPr>
      </p:sp>
      <p:sp>
        <p:nvSpPr>
          <p:cNvPr id="12" name="tile title Bayes"/>
          <p:cNvSpPr txBox="1"/>
          <p:nvPr/>
        </p:nvSpPr>
        <p:spPr>
          <a:xfrm>
            <a:off x="6364224" y="1828800"/>
            <a:ext cx="2240280" cy="365760"/>
          </a:xfrm>
          <a:prstGeom prst="rect">
            <a:avLst/>
          </a:prstGeom>
          <a:noFill/>
          <a:ln/>
        </p:spPr>
        <p:txBody>
          <a:bodyPr wrap="square" lIns="0" tIns="0" rIns="0" bIns="0" rtlCol="0" anchor="ctr"/>
          <a:lstStyle/>
          <a:p>
            <a:pPr indent="0" marL="0">
              <a:buNone/>
            </a:pPr>
            <a:r>
              <a:rPr lang="en-US" sz="1600" b="1" dirty="0">
                <a:solidFill>
                  <a:srgbClr val="FF2BD6"/>
                </a:solidFill>
              </a:rPr>
              <a:t>Bayes</a:t>
            </a:r>
            <a:endParaRPr lang="en-US" sz="1600" dirty="0"/>
          </a:p>
        </p:txBody>
      </p:sp>
      <p:sp>
        <p:nvSpPr>
          <p:cNvPr id="13" name="tile text Bayes"/>
          <p:cNvSpPr txBox="1"/>
          <p:nvPr/>
        </p:nvSpPr>
        <p:spPr>
          <a:xfrm>
            <a:off x="6364224" y="2240280"/>
            <a:ext cx="2286000" cy="548640"/>
          </a:xfrm>
          <a:prstGeom prst="rect">
            <a:avLst/>
          </a:prstGeom>
          <a:noFill/>
          <a:ln/>
        </p:spPr>
        <p:txBody>
          <a:bodyPr wrap="square" lIns="0" tIns="0" rIns="0" bIns="0" rtlCol="0" anchor="ctr"/>
          <a:lstStyle/>
          <a:p>
            <a:pPr indent="0" marL="0">
              <a:buNone/>
            </a:pPr>
            <a:r>
              <a:rPr lang="en-US" sz="1300" dirty="0">
                <a:solidFill>
                  <a:srgbClr val="ECEBF5"/>
                </a:solidFill>
              </a:rPr>
              <a:t>P(spam | free) = 74%</a:t>
            </a:r>
            <a:endParaRPr lang="en-US" sz="1300" dirty="0"/>
          </a:p>
        </p:txBody>
      </p:sp>
      <p:sp>
        <p:nvSpPr>
          <p:cNvPr id="14" name="tile Base rate"/>
          <p:cNvSpPr/>
          <p:nvPr/>
        </p:nvSpPr>
        <p:spPr>
          <a:xfrm>
            <a:off x="8997696" y="1691640"/>
            <a:ext cx="2606040" cy="1234440"/>
          </a:xfrm>
          <a:prstGeom prst="roundRect">
            <a:avLst>
              <a:gd name="adj" fmla="val 8889"/>
            </a:avLst>
          </a:prstGeom>
          <a:solidFill>
            <a:srgbClr val="14131F"/>
          </a:solidFill>
          <a:ln w="9525">
            <a:solidFill>
              <a:srgbClr val="2A2840"/>
            </a:solidFill>
            <a:prstDash val="solid"/>
          </a:ln>
        </p:spPr>
      </p:sp>
      <p:sp>
        <p:nvSpPr>
          <p:cNvPr id="15" name="tile title Base rate"/>
          <p:cNvSpPr txBox="1"/>
          <p:nvPr/>
        </p:nvSpPr>
        <p:spPr>
          <a:xfrm>
            <a:off x="9180576" y="1828800"/>
            <a:ext cx="2240280" cy="365760"/>
          </a:xfrm>
          <a:prstGeom prst="rect">
            <a:avLst/>
          </a:prstGeom>
          <a:noFill/>
          <a:ln/>
        </p:spPr>
        <p:txBody>
          <a:bodyPr wrap="square" lIns="0" tIns="0" rIns="0" bIns="0" rtlCol="0" anchor="ctr"/>
          <a:lstStyle/>
          <a:p>
            <a:pPr indent="0" marL="0">
              <a:buNone/>
            </a:pPr>
            <a:r>
              <a:rPr lang="en-US" sz="1600" b="1" dirty="0">
                <a:solidFill>
                  <a:srgbClr val="FF2BD6"/>
                </a:solidFill>
              </a:rPr>
              <a:t>Base rate</a:t>
            </a:r>
            <a:endParaRPr lang="en-US" sz="1600" dirty="0"/>
          </a:p>
        </p:txBody>
      </p:sp>
      <p:sp>
        <p:nvSpPr>
          <p:cNvPr id="16" name="tile text Base rate"/>
          <p:cNvSpPr txBox="1"/>
          <p:nvPr/>
        </p:nvSpPr>
        <p:spPr>
          <a:xfrm>
            <a:off x="9180576" y="2240280"/>
            <a:ext cx="2286000" cy="548640"/>
          </a:xfrm>
          <a:prstGeom prst="rect">
            <a:avLst/>
          </a:prstGeom>
          <a:noFill/>
          <a:ln/>
        </p:spPr>
        <p:txBody>
          <a:bodyPr wrap="square" lIns="0" tIns="0" rIns="0" bIns="0" rtlCol="0" anchor="ctr"/>
          <a:lstStyle/>
          <a:p>
            <a:pPr indent="0" marL="0">
              <a:buNone/>
            </a:pPr>
            <a:r>
              <a:rPr lang="en-US" sz="1300" dirty="0">
                <a:solidFill>
                  <a:srgbClr val="ECEBF5"/>
                </a:solidFill>
              </a:rPr>
              <a:t>99% test, rare disease → 17%</a:t>
            </a:r>
            <a:endParaRPr lang="en-US" sz="1300" dirty="0"/>
          </a:p>
        </p:txBody>
      </p:sp>
      <p:sp>
        <p:nvSpPr>
          <p:cNvPr id="17" name="tile Poisson"/>
          <p:cNvSpPr/>
          <p:nvPr/>
        </p:nvSpPr>
        <p:spPr>
          <a:xfrm>
            <a:off x="548640" y="3108960"/>
            <a:ext cx="2606040" cy="1234440"/>
          </a:xfrm>
          <a:prstGeom prst="roundRect">
            <a:avLst>
              <a:gd name="adj" fmla="val 8889"/>
            </a:avLst>
          </a:prstGeom>
          <a:solidFill>
            <a:srgbClr val="14131F"/>
          </a:solidFill>
          <a:ln w="9525">
            <a:solidFill>
              <a:srgbClr val="2A2840"/>
            </a:solidFill>
            <a:prstDash val="solid"/>
          </a:ln>
        </p:spPr>
      </p:sp>
      <p:sp>
        <p:nvSpPr>
          <p:cNvPr id="18" name="tile title Poisson"/>
          <p:cNvSpPr txBox="1"/>
          <p:nvPr/>
        </p:nvSpPr>
        <p:spPr>
          <a:xfrm>
            <a:off x="731520" y="3246120"/>
            <a:ext cx="2240280" cy="365760"/>
          </a:xfrm>
          <a:prstGeom prst="rect">
            <a:avLst/>
          </a:prstGeom>
          <a:noFill/>
          <a:ln/>
        </p:spPr>
        <p:txBody>
          <a:bodyPr wrap="square" lIns="0" tIns="0" rIns="0" bIns="0" rtlCol="0" anchor="ctr"/>
          <a:lstStyle/>
          <a:p>
            <a:pPr indent="0" marL="0">
              <a:buNone/>
            </a:pPr>
            <a:r>
              <a:rPr lang="en-US" sz="1600" b="1" dirty="0">
                <a:solidFill>
                  <a:srgbClr val="2DE2FF"/>
                </a:solidFill>
              </a:rPr>
              <a:t>Poisson</a:t>
            </a:r>
            <a:endParaRPr lang="en-US" sz="1600" dirty="0"/>
          </a:p>
        </p:txBody>
      </p:sp>
      <p:sp>
        <p:nvSpPr>
          <p:cNvPr id="19" name="tile text Poisson"/>
          <p:cNvSpPr txBox="1"/>
          <p:nvPr/>
        </p:nvSpPr>
        <p:spPr>
          <a:xfrm>
            <a:off x="731520" y="3657600"/>
            <a:ext cx="2286000" cy="548640"/>
          </a:xfrm>
          <a:prstGeom prst="rect">
            <a:avLst/>
          </a:prstGeom>
          <a:noFill/>
          <a:ln/>
        </p:spPr>
        <p:txBody>
          <a:bodyPr wrap="square" lIns="0" tIns="0" rIns="0" bIns="0" rtlCol="0" anchor="ctr"/>
          <a:lstStyle/>
          <a:p>
            <a:pPr indent="0" marL="0">
              <a:buNone/>
            </a:pPr>
            <a:r>
              <a:rPr lang="en-US" sz="1300" dirty="0">
                <a:solidFill>
                  <a:srgbClr val="ECEBF5"/>
                </a:solidFill>
              </a:rPr>
              <a:t>spam regular, humans bursty</a:t>
            </a:r>
            <a:endParaRPr lang="en-US" sz="1300" dirty="0"/>
          </a:p>
        </p:txBody>
      </p:sp>
      <p:sp>
        <p:nvSpPr>
          <p:cNvPr id="20" name="tile χ² test"/>
          <p:cNvSpPr/>
          <p:nvPr/>
        </p:nvSpPr>
        <p:spPr>
          <a:xfrm>
            <a:off x="3364992" y="3108960"/>
            <a:ext cx="2606040" cy="1234440"/>
          </a:xfrm>
          <a:prstGeom prst="roundRect">
            <a:avLst>
              <a:gd name="adj" fmla="val 8889"/>
            </a:avLst>
          </a:prstGeom>
          <a:solidFill>
            <a:srgbClr val="14131F"/>
          </a:solidFill>
          <a:ln w="9525">
            <a:solidFill>
              <a:srgbClr val="2A2840"/>
            </a:solidFill>
            <a:prstDash val="solid"/>
          </a:ln>
        </p:spPr>
      </p:sp>
      <p:sp>
        <p:nvSpPr>
          <p:cNvPr id="21" name="tile title χ² test"/>
          <p:cNvSpPr txBox="1"/>
          <p:nvPr/>
        </p:nvSpPr>
        <p:spPr>
          <a:xfrm>
            <a:off x="3547872" y="3246120"/>
            <a:ext cx="2240280" cy="365760"/>
          </a:xfrm>
          <a:prstGeom prst="rect">
            <a:avLst/>
          </a:prstGeom>
          <a:noFill/>
          <a:ln/>
        </p:spPr>
        <p:txBody>
          <a:bodyPr wrap="square" lIns="0" tIns="0" rIns="0" bIns="0" rtlCol="0" anchor="ctr"/>
          <a:lstStyle/>
          <a:p>
            <a:pPr indent="0" marL="0">
              <a:buNone/>
            </a:pPr>
            <a:r>
              <a:rPr lang="en-US" sz="1600" b="1" dirty="0">
                <a:solidFill>
                  <a:srgbClr val="9B7BFF"/>
                </a:solidFill>
              </a:rPr>
              <a:t>χ² test</a:t>
            </a:r>
            <a:endParaRPr lang="en-US" sz="1600" dirty="0"/>
          </a:p>
        </p:txBody>
      </p:sp>
      <p:sp>
        <p:nvSpPr>
          <p:cNvPr id="22" name="tile text χ² test"/>
          <p:cNvSpPr txBox="1"/>
          <p:nvPr/>
        </p:nvSpPr>
        <p:spPr>
          <a:xfrm>
            <a:off x="3547872" y="3657600"/>
            <a:ext cx="2286000" cy="548640"/>
          </a:xfrm>
          <a:prstGeom prst="rect">
            <a:avLst/>
          </a:prstGeom>
          <a:noFill/>
          <a:ln/>
        </p:spPr>
        <p:txBody>
          <a:bodyPr wrap="square" lIns="0" tIns="0" rIns="0" bIns="0" rtlCol="0" anchor="ctr"/>
          <a:lstStyle/>
          <a:p>
            <a:pPr indent="0" marL="0">
              <a:buNone/>
            </a:pPr>
            <a:r>
              <a:rPr lang="en-US" sz="1300" dirty="0">
                <a:solidFill>
                  <a:srgbClr val="ECEBF5"/>
                </a:solidFill>
              </a:rPr>
              <a:t>V = 0.90, not chance</a:t>
            </a:r>
            <a:endParaRPr lang="en-US" sz="1300" dirty="0"/>
          </a:p>
        </p:txBody>
      </p:sp>
      <p:sp>
        <p:nvSpPr>
          <p:cNvPr id="23" name="tile Edit distance"/>
          <p:cNvSpPr/>
          <p:nvPr/>
        </p:nvSpPr>
        <p:spPr>
          <a:xfrm>
            <a:off x="6181344" y="3108960"/>
            <a:ext cx="2606040" cy="1234440"/>
          </a:xfrm>
          <a:prstGeom prst="roundRect">
            <a:avLst>
              <a:gd name="adj" fmla="val 8889"/>
            </a:avLst>
          </a:prstGeom>
          <a:solidFill>
            <a:srgbClr val="14131F"/>
          </a:solidFill>
          <a:ln w="9525">
            <a:solidFill>
              <a:srgbClr val="2A2840"/>
            </a:solidFill>
            <a:prstDash val="solid"/>
          </a:ln>
        </p:spPr>
      </p:sp>
      <p:sp>
        <p:nvSpPr>
          <p:cNvPr id="24" name="tile title Edit distance"/>
          <p:cNvSpPr txBox="1"/>
          <p:nvPr/>
        </p:nvSpPr>
        <p:spPr>
          <a:xfrm>
            <a:off x="6364224" y="3246120"/>
            <a:ext cx="2240280" cy="365760"/>
          </a:xfrm>
          <a:prstGeom prst="rect">
            <a:avLst/>
          </a:prstGeom>
          <a:noFill/>
          <a:ln/>
        </p:spPr>
        <p:txBody>
          <a:bodyPr wrap="square" lIns="0" tIns="0" rIns="0" bIns="0" rtlCol="0" anchor="ctr"/>
          <a:lstStyle/>
          <a:p>
            <a:pPr indent="0" marL="0">
              <a:buNone/>
            </a:pPr>
            <a:r>
              <a:rPr lang="en-US" sz="1600" b="1" dirty="0">
                <a:solidFill>
                  <a:srgbClr val="C6FF3D"/>
                </a:solidFill>
              </a:rPr>
              <a:t>Edit distance</a:t>
            </a:r>
            <a:endParaRPr lang="en-US" sz="1600" dirty="0"/>
          </a:p>
        </p:txBody>
      </p:sp>
      <p:sp>
        <p:nvSpPr>
          <p:cNvPr id="25" name="tile text Edit distance"/>
          <p:cNvSpPr txBox="1"/>
          <p:nvPr/>
        </p:nvSpPr>
        <p:spPr>
          <a:xfrm>
            <a:off x="6364224" y="3657600"/>
            <a:ext cx="2286000" cy="548640"/>
          </a:xfrm>
          <a:prstGeom prst="rect">
            <a:avLst/>
          </a:prstGeom>
          <a:noFill/>
          <a:ln/>
        </p:spPr>
        <p:txBody>
          <a:bodyPr wrap="square" lIns="0" tIns="0" rIns="0" bIns="0" rtlCol="0" anchor="ctr"/>
          <a:lstStyle/>
          <a:p>
            <a:pPr indent="0" marL="0">
              <a:buNone/>
            </a:pPr>
            <a:r>
              <a:rPr lang="en-US" sz="1300" dirty="0">
                <a:solidFill>
                  <a:srgbClr val="ECEBF5"/>
                </a:solidFill>
              </a:rPr>
              <a:t>fr33 → free in 2 edits</a:t>
            </a:r>
            <a:endParaRPr lang="en-US" sz="1300" dirty="0"/>
          </a:p>
        </p:txBody>
      </p:sp>
      <p:sp>
        <p:nvSpPr>
          <p:cNvPr id="26" name="tile Naive Bayes"/>
          <p:cNvSpPr/>
          <p:nvPr/>
        </p:nvSpPr>
        <p:spPr>
          <a:xfrm>
            <a:off x="8997696" y="3108960"/>
            <a:ext cx="2606040" cy="1234440"/>
          </a:xfrm>
          <a:prstGeom prst="roundRect">
            <a:avLst>
              <a:gd name="adj" fmla="val 8889"/>
            </a:avLst>
          </a:prstGeom>
          <a:solidFill>
            <a:srgbClr val="14131F"/>
          </a:solidFill>
          <a:ln w="9525">
            <a:solidFill>
              <a:srgbClr val="2A2840"/>
            </a:solidFill>
            <a:prstDash val="solid"/>
          </a:ln>
        </p:spPr>
      </p:sp>
      <p:sp>
        <p:nvSpPr>
          <p:cNvPr id="27" name="tile title Naive Bayes"/>
          <p:cNvSpPr txBox="1"/>
          <p:nvPr/>
        </p:nvSpPr>
        <p:spPr>
          <a:xfrm>
            <a:off x="9180576" y="3246120"/>
            <a:ext cx="2240280" cy="365760"/>
          </a:xfrm>
          <a:prstGeom prst="rect">
            <a:avLst/>
          </a:prstGeom>
          <a:noFill/>
          <a:ln/>
        </p:spPr>
        <p:txBody>
          <a:bodyPr wrap="square" lIns="0" tIns="0" rIns="0" bIns="0" rtlCol="0" anchor="ctr"/>
          <a:lstStyle/>
          <a:p>
            <a:pPr indent="0" marL="0">
              <a:buNone/>
            </a:pPr>
            <a:r>
              <a:rPr lang="en-US" sz="1600" b="1" dirty="0">
                <a:solidFill>
                  <a:srgbClr val="C6FF3D"/>
                </a:solidFill>
              </a:rPr>
              <a:t>Naive Bayes</a:t>
            </a:r>
            <a:endParaRPr lang="en-US" sz="1600" dirty="0"/>
          </a:p>
        </p:txBody>
      </p:sp>
      <p:sp>
        <p:nvSpPr>
          <p:cNvPr id="28" name="tile text Naive Bayes"/>
          <p:cNvSpPr txBox="1"/>
          <p:nvPr/>
        </p:nvSpPr>
        <p:spPr>
          <a:xfrm>
            <a:off x="9180576" y="3657600"/>
            <a:ext cx="2286000" cy="548640"/>
          </a:xfrm>
          <a:prstGeom prst="rect">
            <a:avLst/>
          </a:prstGeom>
          <a:noFill/>
          <a:ln/>
        </p:spPr>
        <p:txBody>
          <a:bodyPr wrap="square" lIns="0" tIns="0" rIns="0" bIns="0" rtlCol="0" anchor="ctr"/>
          <a:lstStyle/>
          <a:p>
            <a:pPr indent="0" marL="0">
              <a:buNone/>
            </a:pPr>
            <a:r>
              <a:rPr lang="en-US" sz="1300" dirty="0">
                <a:solidFill>
                  <a:srgbClr val="ECEBF5"/>
                </a:solidFill>
              </a:rPr>
              <a:t>98.3% accurate, AUC 0.98</a:t>
            </a:r>
            <a:endParaRPr lang="en-US" sz="1300" dirty="0"/>
          </a:p>
        </p:txBody>
      </p:sp>
      <p:sp>
        <p:nvSpPr>
          <p:cNvPr id="29" name="PhishGuard bonus"/>
          <p:cNvSpPr txBox="1"/>
          <p:nvPr/>
        </p:nvSpPr>
        <p:spPr>
          <a:xfrm>
            <a:off x="548640" y="4663440"/>
            <a:ext cx="8686800" cy="822960"/>
          </a:xfrm>
          <a:prstGeom prst="rect">
            <a:avLst/>
          </a:prstGeom>
          <a:noFill/>
          <a:ln/>
        </p:spPr>
        <p:txBody>
          <a:bodyPr wrap="square" lIns="0" tIns="0" rIns="0" bIns="0" rtlCol="0" anchor="t"/>
          <a:lstStyle/>
          <a:p>
            <a:pPr indent="0" marL="0">
              <a:spcAft>
                <a:spcPts val="600"/>
              </a:spcAft>
              <a:buNone/>
            </a:pPr>
            <a:r>
              <a:rPr lang="en-US" sz="1500" b="1" dirty="0">
                <a:solidFill>
                  <a:schemeClr val="accent3"/>
                </a:solidFill>
              </a:rPr>
              <a:t>Bonus: the same maths protects code. </a:t>
            </a:r>
            <a:pPr indent="0" marL="0">
              <a:spcAft>
                <a:spcPts val="600"/>
              </a:spcAft>
              <a:buNone/>
            </a:pPr>
            <a:r>
              <a:rPr lang="en-US" sz="1500" dirty="0">
                <a:solidFill>
                  <a:schemeClr val="bg2"/>
                </a:solidFill>
              </a:rPr>
              <a:t>PhishGuard.js uses Bayes, edit distance (loadsh vs lodash) and a Poisson test to catch malicious packages.</a:t>
            </a:r>
            <a:endParaRPr lang="en-US" sz="1500" dirty="0"/>
          </a:p>
        </p:txBody>
      </p:sp>
      <p:sp>
        <p:nvSpPr>
          <p:cNvPr id="30" name="thank you"/>
          <p:cNvSpPr txBox="1"/>
          <p:nvPr/>
        </p:nvSpPr>
        <p:spPr>
          <a:xfrm>
            <a:off x="548640" y="5623560"/>
            <a:ext cx="11064240" cy="640080"/>
          </a:xfrm>
          <a:prstGeom prst="rect">
            <a:avLst/>
          </a:prstGeom>
          <a:noFill/>
          <a:ln/>
        </p:spPr>
        <p:txBody>
          <a:bodyPr wrap="square" lIns="0" tIns="0" rIns="0" bIns="0" rtlCol="0" anchor="ctr"/>
          <a:lstStyle/>
          <a:p>
            <a:pPr indent="0" marL="0">
              <a:buNone/>
            </a:pPr>
            <a:r>
              <a:rPr lang="en-US" sz="3000" b="1" dirty="0">
                <a:solidFill>
                  <a:srgbClr val="FF2BD6"/>
                </a:solidFill>
                <a:latin typeface="Arial" pitchFamily="34" charset="0"/>
                <a:ea typeface="Arial" pitchFamily="34" charset="-122"/>
                <a:cs typeface="Arial" pitchFamily="34" charset="-120"/>
              </a:rPr>
              <a:t>Thank you · Questions?</a:t>
            </a: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A3"/>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pam Neon">
  <a:themeElements>
    <a:clrScheme name="Spam Neon">
      <a:dk1>
        <a:srgbClr val="07070C"/>
      </a:dk1>
      <a:lt1>
        <a:srgbClr val="ECEBF5"/>
      </a:lt1>
      <a:dk2>
        <a:srgbClr val="14131F"/>
      </a:dk2>
      <a:lt2>
        <a:srgbClr val="8A8AA3"/>
      </a:lt2>
      <a:accent1>
        <a:srgbClr val="FF2BD6"/>
      </a:accent1>
      <a:accent2>
        <a:srgbClr val="2DE2FF"/>
      </a:accent2>
      <a:accent3>
        <a:srgbClr val="C6FF3D"/>
      </a:accent3>
      <a:accent4>
        <a:srgbClr val="FF8A3D"/>
      </a:accent4>
      <a:accent5>
        <a:srgbClr val="9B7BFF"/>
      </a:accent5>
      <a:accent6>
        <a:srgbClr val="FFFFFF"/>
      </a:accent6>
      <a:hlink>
        <a:srgbClr val="2DE2FF"/>
      </a:hlink>
      <a:folHlink>
        <a:srgbClr val="9B7BFF"/>
      </a:folHlink>
    </a:clrScheme>
    <a:fontScheme name="Spam Ne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your phone know it's spam?</dc:title>
  <dc:subject>Probability and statistics behind spam filters, computed in R</dc:subject>
  <dc:creator>PptxGenJS</dc:creator>
  <cp:lastModifiedBy>PptxGenJS</cp:lastModifiedBy>
  <cp:revision>1</cp:revision>
  <dcterms:created xsi:type="dcterms:W3CDTF">2026-10-31T01:53:47Z</dcterms:created>
  <dcterms:modified xsi:type="dcterms:W3CDTF">2026-10-31T01:53:47Z</dcterms:modified>
</cp:coreProperties>
</file>